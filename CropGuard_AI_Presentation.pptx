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judges. CropGuard AI is an offline AI-powered crop disease diagnosis app built for Indian farmers. Today we'll walk you through the problem, our solution, the AI pipeline,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Indian farmers lose an estimated ₹90,000 crore annually to plant diseases. A 20-30% seasonal yield cut stems largely from delayed diagnosis. Existing digital tools require cloud connectivity — which fails precisely when farmers need it most, during monsoon and in rural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CropGuard AI works in 5 simple steps. Crucially, steps 3 onward require zero internet. The AI runs entirely on the farmer's device. Voice readout in Hindi means even non-literate farmers can fully use this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MobileNetV2 for its balance of accuracy and size. uint8 quantization cuts the model from 16 MB to 4.2 MB with less than 2% accuracy loss. The WebGL backend uses the phone's GPU for fast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component in our stack was chosen for field-readiness. TF.js runs the AI on-device. Workbox caches everything after first load. The entire app runs offline. Web Speech API provides Hindi audio without any paid TTS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dataset combines the near-complete PlantVillage dataset with specialized rice and wheat datasets from Kaggle, plus 300+ original field photos we captured on low-cost Android devices. We apply 5x augmentation mimicking real outdoor conditions farmers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total offline footprint is just 5.1 MB — well within the 150 MB budget. The Service Worker uses different caching strategies for different asset types. Model weights are cached on first use and persist. No user photos ever leave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CropGuard AI's impact spans economic, social, and environmental dimensions. By targeting the 55 crore rural subscribers and working fully offline, we scale without any cloud cost. Precision ICAR-based treatment reduces over-application of chemicals.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tested device achieves diagnosis under 10 seconds without internet. The 88.3% overall accuracy on the validation set represents baseline performance — fine-tuning on additional Indian field data will push this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72-hour plan is aggressive but realistic — we're using pre-trained MobileNetV2 weights so training time is short. Day 1 is all data and scaffold, Day 2 is the AI core, Day 3 is polish and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existing solution combines offline-first architecture, Hindi voice output, and zero-literacy design. CropGuard AI is purpose-built for the 58% of India's population that depends on agriculture and faces connectivity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CropGuard AI is ready to give every Indian farmer an instant, private, offline crop doctor in their pocket.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D1A"/>
        </a:solidFill>
      </p:bgPr>
    </p:bg>
    <p:spTree>
      <p:nvGrpSpPr>
        <p:cNvPr id="1" name=""/>
        <p:cNvGrpSpPr/>
        <p:nvPr/>
      </p:nvGrpSpPr>
      <p:grpSpPr>
        <a:xfrm>
          <a:off x="0" y="0"/>
          <a:ext cx="0" cy="0"/>
          <a:chOff x="0" y="0"/>
          <a:chExt cx="0" cy="0"/>
        </a:xfrm>
      </p:grpSpPr>
      <p:sp>
        <p:nvSpPr>
          <p:cNvPr id="2" name="Shape 0"/>
          <p:cNvSpPr/>
          <p:nvPr/>
        </p:nvSpPr>
        <p:spPr>
          <a:xfrm>
            <a:off x="5943600" y="-731520"/>
            <a:ext cx="4572000" cy="4572000"/>
          </a:xfrm>
          <a:prstGeom prst="ellipse">
            <a:avLst/>
          </a:prstGeom>
          <a:solidFill>
            <a:srgbClr val="1A6B2E">
              <a:alpha val="40000"/>
            </a:srgbClr>
          </a:solidFill>
          <a:ln/>
        </p:spPr>
      </p:sp>
      <p:sp>
        <p:nvSpPr>
          <p:cNvPr id="3" name="Shape 1"/>
          <p:cNvSpPr/>
          <p:nvPr/>
        </p:nvSpPr>
        <p:spPr>
          <a:xfrm>
            <a:off x="-914400" y="3200400"/>
            <a:ext cx="3657600" cy="3657600"/>
          </a:xfrm>
          <a:prstGeom prst="ellipse">
            <a:avLst/>
          </a:prstGeom>
          <a:solidFill>
            <a:srgbClr val="2E9E4F">
              <a:alpha val="30000"/>
            </a:srgbClr>
          </a:solidFill>
          <a:ln/>
        </p:spPr>
      </p:sp>
      <p:sp>
        <p:nvSpPr>
          <p:cNvPr id="4" name="Text 2"/>
          <p:cNvSpPr/>
          <p:nvPr/>
        </p:nvSpPr>
        <p:spPr>
          <a:xfrm>
            <a:off x="457200" y="457200"/>
            <a:ext cx="1828800" cy="1371600"/>
          </a:xfrm>
          <a:prstGeom prst="rect">
            <a:avLst/>
          </a:prstGeom>
          <a:noFill/>
          <a:ln/>
        </p:spPr>
        <p:txBody>
          <a:bodyPr wrap="square" rtlCol="0" anchor="ctr"/>
          <a:lstStyle/>
          <a:p>
            <a:pPr algn="l" indent="0" marL="0">
              <a:buNone/>
            </a:pPr>
            <a:r>
              <a:rPr lang="en-US" sz="5600" dirty="0">
                <a:solidFill>
                  <a:srgbClr val="000000"/>
                </a:solidFill>
              </a:rPr>
              <a:t>🌿</a:t>
            </a:r>
            <a:endParaRPr lang="en-US" sz="5600" dirty="0"/>
          </a:p>
        </p:txBody>
      </p:sp>
      <p:sp>
        <p:nvSpPr>
          <p:cNvPr id="5" name="Text 3"/>
          <p:cNvSpPr/>
          <p:nvPr/>
        </p:nvSpPr>
        <p:spPr>
          <a:xfrm>
            <a:off x="365760" y="1280160"/>
            <a:ext cx="8412480" cy="1097280"/>
          </a:xfrm>
          <a:prstGeom prst="rect">
            <a:avLst/>
          </a:prstGeom>
          <a:noFill/>
          <a:ln/>
        </p:spPr>
        <p:txBody>
          <a:bodyPr wrap="square" rtlCol="0" anchor="ctr"/>
          <a:lstStyle/>
          <a:p>
            <a:pPr algn="l" indent="0" marL="0">
              <a:buNone/>
            </a:pPr>
            <a:r>
              <a:rPr lang="en-US" sz="5200" b="1" spc="-100" kern="0" dirty="0">
                <a:solidFill>
                  <a:srgbClr val="FFFFFF"/>
                </a:solidFill>
                <a:latin typeface="Cambria" pitchFamily="34" charset="0"/>
                <a:ea typeface="Cambria" pitchFamily="34" charset="-122"/>
                <a:cs typeface="Cambria" pitchFamily="34" charset="-120"/>
              </a:rPr>
              <a:t>CropGuard AI</a:t>
            </a:r>
            <a:endParaRPr lang="en-US" sz="5200" dirty="0"/>
          </a:p>
        </p:txBody>
      </p:sp>
      <p:sp>
        <p:nvSpPr>
          <p:cNvPr id="6" name="Text 4"/>
          <p:cNvSpPr/>
          <p:nvPr/>
        </p:nvSpPr>
        <p:spPr>
          <a:xfrm>
            <a:off x="365760" y="2331720"/>
            <a:ext cx="8229600" cy="502920"/>
          </a:xfrm>
          <a:prstGeom prst="rect">
            <a:avLst/>
          </a:prstGeom>
          <a:noFill/>
          <a:ln/>
        </p:spPr>
        <p:txBody>
          <a:bodyPr wrap="square" rtlCol="0" anchor="ctr"/>
          <a:lstStyle/>
          <a:p>
            <a:pPr algn="l" indent="0" marL="0">
              <a:buNone/>
            </a:pPr>
            <a:r>
              <a:rPr lang="en-US" sz="1800" dirty="0">
                <a:solidFill>
                  <a:srgbClr val="74C98A"/>
                </a:solidFill>
                <a:latin typeface="Calibri" pitchFamily="34" charset="0"/>
                <a:ea typeface="Calibri" pitchFamily="34" charset="-122"/>
                <a:cs typeface="Calibri" pitchFamily="34" charset="-120"/>
              </a:rPr>
              <a:t>फसल रोग निदान  ·  Crop Disease Diagnosis</a:t>
            </a:r>
            <a:endParaRPr lang="en-US" sz="1800" dirty="0"/>
          </a:p>
        </p:txBody>
      </p:sp>
      <p:sp>
        <p:nvSpPr>
          <p:cNvPr id="7" name="Shape 5"/>
          <p:cNvSpPr/>
          <p:nvPr/>
        </p:nvSpPr>
        <p:spPr>
          <a:xfrm>
            <a:off x="365760" y="2926080"/>
            <a:ext cx="4754880" cy="475488"/>
          </a:xfrm>
          <a:prstGeom prst="roundRect">
            <a:avLst>
              <a:gd name="adj" fmla="val 23077"/>
            </a:avLst>
          </a:prstGeom>
          <a:solidFill>
            <a:srgbClr val="2E9E4F"/>
          </a:solidFill>
          <a:ln/>
        </p:spPr>
      </p:sp>
      <p:sp>
        <p:nvSpPr>
          <p:cNvPr id="8" name="Text 6"/>
          <p:cNvSpPr/>
          <p:nvPr/>
        </p:nvSpPr>
        <p:spPr>
          <a:xfrm>
            <a:off x="365760" y="2926080"/>
            <a:ext cx="47548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Offline-first  ·  Zero Internet  ·  Hindi Voice  ·  ICAR-validated</a:t>
            </a:r>
            <a:endParaRPr lang="en-US" sz="1050" dirty="0"/>
          </a:p>
        </p:txBody>
      </p:sp>
      <p:sp>
        <p:nvSpPr>
          <p:cNvPr id="9" name="Text 7"/>
          <p:cNvSpPr/>
          <p:nvPr/>
        </p:nvSpPr>
        <p:spPr>
          <a:xfrm>
            <a:off x="365760" y="3931920"/>
            <a:ext cx="8412480" cy="914400"/>
          </a:xfrm>
          <a:prstGeom prst="rect">
            <a:avLst/>
          </a:prstGeom>
          <a:noFill/>
          <a:ln/>
        </p:spPr>
        <p:txBody>
          <a:bodyPr wrap="square" rtlCol="0" anchor="ctr"/>
          <a:lstStyle/>
          <a:p>
            <a:pPr algn="l" indent="0" marL="0">
              <a:lnSpc>
                <a:spcPct val="140000"/>
              </a:lnSpc>
              <a:buNone/>
            </a:pPr>
            <a:r>
              <a:rPr lang="en-US" sz="1150" b="1" dirty="0">
                <a:solidFill>
                  <a:srgbClr val="AAD0B5"/>
                </a:solidFill>
                <a:latin typeface="Calibri" pitchFamily="34" charset="0"/>
                <a:ea typeface="Calibri" pitchFamily="34" charset="-122"/>
                <a:cs typeface="Calibri" pitchFamily="34" charset="-120"/>
              </a:rPr>
              <a:t>Bharat Academix CodeQuest 2026</a:t>
            </a:r>
            <a:endParaRPr lang="en-US" sz="1150" dirty="0"/>
          </a:p>
          <a:p>
            <a:pPr algn="l" indent="0" marL="0">
              <a:lnSpc>
                <a:spcPct val="140000"/>
              </a:lnSpc>
              <a:buNone/>
            </a:pPr>
            <a:r>
              <a:rPr lang="en-US" sz="1150" dirty="0">
                <a:solidFill>
                  <a:srgbClr val="AAD0B5"/>
                </a:solidFill>
                <a:latin typeface="Calibri" pitchFamily="34" charset="0"/>
                <a:ea typeface="Calibri" pitchFamily="34" charset="-122"/>
                <a:cs typeface="Calibri" pitchFamily="34" charset="-120"/>
              </a:rPr>
              <a:t>Themes: AI &amp; Machine Learning  |  Agriculture &amp; Rural Development</a:t>
            </a:r>
            <a:endParaRPr lang="en-US" sz="1150" dirty="0"/>
          </a:p>
          <a:p>
            <a:pPr algn="l" indent="0" marL="0">
              <a:lnSpc>
                <a:spcPct val="140000"/>
              </a:lnSpc>
              <a:buNone/>
            </a:pPr>
            <a:r>
              <a:rPr lang="en-US" sz="1150" dirty="0">
                <a:solidFill>
                  <a:srgbClr val="AAD0B5"/>
                </a:solidFill>
                <a:latin typeface="Calibri" pitchFamily="34" charset="0"/>
                <a:ea typeface="Calibri" pitchFamily="34" charset="-122"/>
                <a:cs typeface="Calibri" pitchFamily="34" charset="-120"/>
              </a:rPr>
              <a:t>Team Size: 2  |  Round 2 — Prototype Submission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200" b="1" dirty="0">
                <a:solidFill>
                  <a:srgbClr val="0D3D1A"/>
                </a:solidFill>
                <a:latin typeface="Cambria" pitchFamily="34" charset="0"/>
                <a:ea typeface="Cambria" pitchFamily="34" charset="-122"/>
                <a:cs typeface="Cambria" pitchFamily="34" charset="-120"/>
              </a:rPr>
              <a:t>The Problem</a:t>
            </a:r>
            <a:endParaRPr lang="en-US" sz="3200" dirty="0"/>
          </a:p>
        </p:txBody>
      </p:sp>
      <p:sp>
        <p:nvSpPr>
          <p:cNvPr id="3" name="Text 1"/>
          <p:cNvSpPr/>
          <p:nvPr/>
        </p:nvSpPr>
        <p:spPr>
          <a:xfrm>
            <a:off x="457200" y="777240"/>
            <a:ext cx="8229600" cy="347472"/>
          </a:xfrm>
          <a:prstGeom prst="rect">
            <a:avLst/>
          </a:prstGeom>
          <a:noFill/>
          <a:ln/>
        </p:spPr>
        <p:txBody>
          <a:bodyPr wrap="square" rtlCol="0" anchor="ctr"/>
          <a:lstStyle/>
          <a:p>
            <a:pPr indent="0" marL="0">
              <a:buNone/>
            </a:pPr>
            <a:r>
              <a:rPr lang="en-US" sz="1350" i="1" dirty="0">
                <a:solidFill>
                  <a:srgbClr val="555555"/>
                </a:solidFill>
                <a:latin typeface="Calibri" pitchFamily="34" charset="0"/>
                <a:ea typeface="Calibri" pitchFamily="34" charset="-122"/>
                <a:cs typeface="Calibri" pitchFamily="34" charset="-120"/>
              </a:rPr>
              <a:t>Why India's farmers are losing ₹90,000 crore every year</a:t>
            </a:r>
            <a:endParaRPr lang="en-US" sz="1350" dirty="0"/>
          </a:p>
        </p:txBody>
      </p:sp>
      <p:sp>
        <p:nvSpPr>
          <p:cNvPr id="4" name="Shape 2"/>
          <p:cNvSpPr/>
          <p:nvPr/>
        </p:nvSpPr>
        <p:spPr>
          <a:xfrm>
            <a:off x="365760" y="1234440"/>
            <a:ext cx="2606040" cy="2011680"/>
          </a:xfrm>
          <a:prstGeom prst="roundRect">
            <a:avLst>
              <a:gd name="adj" fmla="val 6818"/>
            </a:avLst>
          </a:prstGeom>
          <a:solidFill>
            <a:srgbClr val="FFFFFF"/>
          </a:solidFill>
          <a:ln/>
          <a:effectLst>
            <a:outerShdw sx="100000" sy="100000" kx="0" ky="0" algn="bl" rotWithShape="0" blurRad="101600" dist="38100" dir="2700000">
              <a:srgbClr val="000000">
                <a:alpha val="13000"/>
              </a:srgbClr>
            </a:outerShdw>
          </a:effectLst>
        </p:spPr>
      </p:sp>
      <p:sp>
        <p:nvSpPr>
          <p:cNvPr id="5" name="Text 3"/>
          <p:cNvSpPr/>
          <p:nvPr/>
        </p:nvSpPr>
        <p:spPr>
          <a:xfrm>
            <a:off x="365760" y="1298448"/>
            <a:ext cx="260604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365760" y="1783080"/>
            <a:ext cx="2606040" cy="594360"/>
          </a:xfrm>
          <a:prstGeom prst="rect">
            <a:avLst/>
          </a:prstGeom>
          <a:noFill/>
          <a:ln/>
        </p:spPr>
        <p:txBody>
          <a:bodyPr wrap="square" rtlCol="0" anchor="ctr"/>
          <a:lstStyle/>
          <a:p>
            <a:pPr algn="ctr" indent="0" marL="0">
              <a:buNone/>
            </a:pPr>
            <a:r>
              <a:rPr lang="en-US" sz="2800" b="1" dirty="0">
                <a:solidFill>
                  <a:srgbClr val="E74C3C"/>
                </a:solidFill>
                <a:latin typeface="Cambria" pitchFamily="34" charset="0"/>
                <a:ea typeface="Cambria" pitchFamily="34" charset="-122"/>
                <a:cs typeface="Cambria" pitchFamily="34" charset="-120"/>
              </a:rPr>
              <a:t>₹90K Cr</a:t>
            </a:r>
            <a:endParaRPr lang="en-US" sz="2800" dirty="0"/>
          </a:p>
        </p:txBody>
      </p:sp>
      <p:sp>
        <p:nvSpPr>
          <p:cNvPr id="7" name="Text 5"/>
          <p:cNvSpPr/>
          <p:nvPr/>
        </p:nvSpPr>
        <p:spPr>
          <a:xfrm>
            <a:off x="365760" y="2340864"/>
            <a:ext cx="2606040" cy="640080"/>
          </a:xfrm>
          <a:prstGeom prst="rect">
            <a:avLst/>
          </a:prstGeom>
          <a:noFill/>
          <a:ln/>
        </p:spPr>
        <p:txBody>
          <a:bodyPr wrap="square" rtlCol="0" anchor="ctr"/>
          <a:lstStyle/>
          <a:p>
            <a:pPr algn="ctr" indent="0" marL="0">
              <a:lnSpc>
                <a:spcPct val="130000"/>
              </a:lnSpc>
              <a:buNone/>
            </a:pPr>
            <a:r>
              <a:rPr lang="en-US" sz="1100" dirty="0">
                <a:solidFill>
                  <a:srgbClr val="555555"/>
                </a:solidFill>
                <a:latin typeface="Calibri" pitchFamily="34" charset="0"/>
                <a:ea typeface="Calibri" pitchFamily="34" charset="-122"/>
                <a:cs typeface="Calibri" pitchFamily="34" charset="-120"/>
              </a:rPr>
              <a:t>Annual crop losses</a:t>
            </a:r>
            <a:endParaRPr lang="en-US" sz="1100" dirty="0"/>
          </a:p>
          <a:p>
            <a:pPr algn="ctr" indent="0" marL="0">
              <a:lnSpc>
                <a:spcPct val="130000"/>
              </a:lnSpc>
              <a:buNone/>
            </a:pPr>
            <a:r>
              <a:rPr lang="en-US" sz="1100" dirty="0">
                <a:solidFill>
                  <a:srgbClr val="555555"/>
                </a:solidFill>
                <a:latin typeface="Calibri" pitchFamily="34" charset="0"/>
                <a:ea typeface="Calibri" pitchFamily="34" charset="-122"/>
                <a:cs typeface="Calibri" pitchFamily="34" charset="-120"/>
              </a:rPr>
              <a:t>to plant diseases</a:t>
            </a:r>
            <a:endParaRPr lang="en-US" sz="1100" dirty="0"/>
          </a:p>
        </p:txBody>
      </p:sp>
      <p:sp>
        <p:nvSpPr>
          <p:cNvPr id="8" name="Shape 6"/>
          <p:cNvSpPr/>
          <p:nvPr/>
        </p:nvSpPr>
        <p:spPr>
          <a:xfrm>
            <a:off x="3200400" y="1234440"/>
            <a:ext cx="2606040" cy="2011680"/>
          </a:xfrm>
          <a:prstGeom prst="roundRect">
            <a:avLst>
              <a:gd name="adj" fmla="val 6818"/>
            </a:avLst>
          </a:prstGeom>
          <a:solidFill>
            <a:srgbClr val="FFFFFF"/>
          </a:solidFill>
          <a:ln/>
          <a:effectLst>
            <a:outerShdw sx="100000" sy="100000" kx="0" ky="0" algn="bl" rotWithShape="0" blurRad="101600" dist="38100" dir="2700000">
              <a:srgbClr val="000000">
                <a:alpha val="13000"/>
              </a:srgbClr>
            </a:outerShdw>
          </a:effectLst>
        </p:spPr>
      </p:sp>
      <p:sp>
        <p:nvSpPr>
          <p:cNvPr id="9" name="Text 7"/>
          <p:cNvSpPr/>
          <p:nvPr/>
        </p:nvSpPr>
        <p:spPr>
          <a:xfrm>
            <a:off x="3200400" y="1298448"/>
            <a:ext cx="260604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0" name="Text 8"/>
          <p:cNvSpPr/>
          <p:nvPr/>
        </p:nvSpPr>
        <p:spPr>
          <a:xfrm>
            <a:off x="3200400" y="1783080"/>
            <a:ext cx="2606040" cy="594360"/>
          </a:xfrm>
          <a:prstGeom prst="rect">
            <a:avLst/>
          </a:prstGeom>
          <a:noFill/>
          <a:ln/>
        </p:spPr>
        <p:txBody>
          <a:bodyPr wrap="square" rtlCol="0" anchor="ctr"/>
          <a:lstStyle/>
          <a:p>
            <a:pPr algn="ctr" indent="0" marL="0">
              <a:buNone/>
            </a:pPr>
            <a:r>
              <a:rPr lang="en-US" sz="2800" b="1" dirty="0">
                <a:solidFill>
                  <a:srgbClr val="F39C12"/>
                </a:solidFill>
                <a:latin typeface="Cambria" pitchFamily="34" charset="0"/>
                <a:ea typeface="Cambria" pitchFamily="34" charset="-122"/>
                <a:cs typeface="Cambria" pitchFamily="34" charset="-120"/>
              </a:rPr>
              <a:t>20–30%</a:t>
            </a:r>
            <a:endParaRPr lang="en-US" sz="2800" dirty="0"/>
          </a:p>
        </p:txBody>
      </p:sp>
      <p:sp>
        <p:nvSpPr>
          <p:cNvPr id="11" name="Text 9"/>
          <p:cNvSpPr/>
          <p:nvPr/>
        </p:nvSpPr>
        <p:spPr>
          <a:xfrm>
            <a:off x="3200400" y="2340864"/>
            <a:ext cx="2606040" cy="640080"/>
          </a:xfrm>
          <a:prstGeom prst="rect">
            <a:avLst/>
          </a:prstGeom>
          <a:noFill/>
          <a:ln/>
        </p:spPr>
        <p:txBody>
          <a:bodyPr wrap="square" rtlCol="0" anchor="ctr"/>
          <a:lstStyle/>
          <a:p>
            <a:pPr algn="ctr" indent="0" marL="0">
              <a:lnSpc>
                <a:spcPct val="130000"/>
              </a:lnSpc>
              <a:buNone/>
            </a:pPr>
            <a:r>
              <a:rPr lang="en-US" sz="1100" dirty="0">
                <a:solidFill>
                  <a:srgbClr val="555555"/>
                </a:solidFill>
                <a:latin typeface="Calibri" pitchFamily="34" charset="0"/>
                <a:ea typeface="Calibri" pitchFamily="34" charset="-122"/>
                <a:cs typeface="Calibri" pitchFamily="34" charset="-120"/>
              </a:rPr>
              <a:t>Seasonal yield loss</a:t>
            </a:r>
            <a:endParaRPr lang="en-US" sz="1100" dirty="0"/>
          </a:p>
          <a:p>
            <a:pPr algn="ctr" indent="0" marL="0">
              <a:lnSpc>
                <a:spcPct val="130000"/>
              </a:lnSpc>
              <a:buNone/>
            </a:pPr>
            <a:r>
              <a:rPr lang="en-US" sz="1100" dirty="0">
                <a:solidFill>
                  <a:srgbClr val="555555"/>
                </a:solidFill>
                <a:latin typeface="Calibri" pitchFamily="34" charset="0"/>
                <a:ea typeface="Calibri" pitchFamily="34" charset="-122"/>
                <a:cs typeface="Calibri" pitchFamily="34" charset="-120"/>
              </a:rPr>
              <a:t>from delayed diagnosis</a:t>
            </a:r>
            <a:endParaRPr lang="en-US" sz="1100" dirty="0"/>
          </a:p>
        </p:txBody>
      </p:sp>
      <p:sp>
        <p:nvSpPr>
          <p:cNvPr id="12" name="Shape 10"/>
          <p:cNvSpPr/>
          <p:nvPr/>
        </p:nvSpPr>
        <p:spPr>
          <a:xfrm>
            <a:off x="6035040" y="1234440"/>
            <a:ext cx="2606040" cy="2011680"/>
          </a:xfrm>
          <a:prstGeom prst="roundRect">
            <a:avLst>
              <a:gd name="adj" fmla="val 6818"/>
            </a:avLst>
          </a:prstGeom>
          <a:solidFill>
            <a:srgbClr val="FFFFFF"/>
          </a:solidFill>
          <a:ln/>
          <a:effectLst>
            <a:outerShdw sx="100000" sy="100000" kx="0" ky="0" algn="bl" rotWithShape="0" blurRad="101600" dist="38100" dir="2700000">
              <a:srgbClr val="000000">
                <a:alpha val="13000"/>
              </a:srgbClr>
            </a:outerShdw>
          </a:effectLst>
        </p:spPr>
      </p:sp>
      <p:sp>
        <p:nvSpPr>
          <p:cNvPr id="13" name="Text 11"/>
          <p:cNvSpPr/>
          <p:nvPr/>
        </p:nvSpPr>
        <p:spPr>
          <a:xfrm>
            <a:off x="6035040" y="1298448"/>
            <a:ext cx="260604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6035040" y="1783080"/>
            <a:ext cx="2606040" cy="594360"/>
          </a:xfrm>
          <a:prstGeom prst="rect">
            <a:avLst/>
          </a:prstGeom>
          <a:noFill/>
          <a:ln/>
        </p:spPr>
        <p:txBody>
          <a:bodyPr wrap="square" rtlCol="0" anchor="ctr"/>
          <a:lstStyle/>
          <a:p>
            <a:pPr algn="ctr" indent="0" marL="0">
              <a:buNone/>
            </a:pPr>
            <a:r>
              <a:rPr lang="en-US" sz="2800" b="1" dirty="0">
                <a:solidFill>
                  <a:srgbClr val="1A6B2E"/>
                </a:solidFill>
                <a:latin typeface="Cambria" pitchFamily="34" charset="0"/>
                <a:ea typeface="Cambria" pitchFamily="34" charset="-122"/>
                <a:cs typeface="Cambria" pitchFamily="34" charset="-120"/>
              </a:rPr>
              <a:t>55 Cr+</a:t>
            </a:r>
            <a:endParaRPr lang="en-US" sz="2800" dirty="0"/>
          </a:p>
        </p:txBody>
      </p:sp>
      <p:sp>
        <p:nvSpPr>
          <p:cNvPr id="15" name="Text 13"/>
          <p:cNvSpPr/>
          <p:nvPr/>
        </p:nvSpPr>
        <p:spPr>
          <a:xfrm>
            <a:off x="6035040" y="2340864"/>
            <a:ext cx="2606040" cy="640080"/>
          </a:xfrm>
          <a:prstGeom prst="rect">
            <a:avLst/>
          </a:prstGeom>
          <a:noFill/>
          <a:ln/>
        </p:spPr>
        <p:txBody>
          <a:bodyPr wrap="square" rtlCol="0" anchor="ctr"/>
          <a:lstStyle/>
          <a:p>
            <a:pPr algn="ctr" indent="0" marL="0">
              <a:lnSpc>
                <a:spcPct val="130000"/>
              </a:lnSpc>
              <a:buNone/>
            </a:pPr>
            <a:r>
              <a:rPr lang="en-US" sz="1100" dirty="0">
                <a:solidFill>
                  <a:srgbClr val="555555"/>
                </a:solidFill>
                <a:latin typeface="Calibri" pitchFamily="34" charset="0"/>
                <a:ea typeface="Calibri" pitchFamily="34" charset="-122"/>
                <a:cs typeface="Calibri" pitchFamily="34" charset="-120"/>
              </a:rPr>
              <a:t>Rural telecom users</a:t>
            </a:r>
            <a:endParaRPr lang="en-US" sz="1100" dirty="0"/>
          </a:p>
          <a:p>
            <a:pPr algn="ctr" indent="0" marL="0">
              <a:lnSpc>
                <a:spcPct val="130000"/>
              </a:lnSpc>
              <a:buNone/>
            </a:pPr>
            <a:r>
              <a:rPr lang="en-US" sz="1100" dirty="0">
                <a:solidFill>
                  <a:srgbClr val="555555"/>
                </a:solidFill>
                <a:latin typeface="Calibri" pitchFamily="34" charset="0"/>
                <a:ea typeface="Calibri" pitchFamily="34" charset="-122"/>
                <a:cs typeface="Calibri" pitchFamily="34" charset="-120"/>
              </a:rPr>
              <a:t>with connectivity gaps</a:t>
            </a:r>
            <a:endParaRPr lang="en-US" sz="1100" dirty="0"/>
          </a:p>
        </p:txBody>
      </p:sp>
      <p:sp>
        <p:nvSpPr>
          <p:cNvPr id="16" name="Shape 14"/>
          <p:cNvSpPr/>
          <p:nvPr/>
        </p:nvSpPr>
        <p:spPr>
          <a:xfrm>
            <a:off x="365760" y="3383280"/>
            <a:ext cx="8412480" cy="1463040"/>
          </a:xfrm>
          <a:prstGeom prst="roundRect">
            <a:avLst>
              <a:gd name="adj" fmla="val 8750"/>
            </a:avLst>
          </a:prstGeom>
          <a:solidFill>
            <a:srgbClr val="0D3D1A"/>
          </a:solidFill>
          <a:ln/>
        </p:spPr>
      </p:sp>
      <p:sp>
        <p:nvSpPr>
          <p:cNvPr id="17" name="Text 15"/>
          <p:cNvSpPr/>
          <p:nvPr/>
        </p:nvSpPr>
        <p:spPr>
          <a:xfrm>
            <a:off x="548640" y="3474720"/>
            <a:ext cx="8229600" cy="365760"/>
          </a:xfrm>
          <a:prstGeom prst="rect">
            <a:avLst/>
          </a:prstGeom>
          <a:noFill/>
          <a:ln/>
        </p:spPr>
        <p:txBody>
          <a:bodyPr wrap="square" rtlCol="0" anchor="ctr"/>
          <a:lstStyle/>
          <a:p>
            <a:pPr indent="0" marL="0">
              <a:buNone/>
            </a:pPr>
            <a:r>
              <a:rPr lang="en-US" sz="1300" b="1" dirty="0">
                <a:solidFill>
                  <a:srgbClr val="74C98A"/>
                </a:solidFill>
                <a:latin typeface="Calibri" pitchFamily="34" charset="0"/>
                <a:ea typeface="Calibri" pitchFamily="34" charset="-122"/>
                <a:cs typeface="Calibri" pitchFamily="34" charset="-120"/>
              </a:rPr>
              <a:t>⚡  Root Cause:</a:t>
            </a:r>
            <a:endParaRPr lang="en-US" sz="1300" dirty="0"/>
          </a:p>
        </p:txBody>
      </p:sp>
      <p:sp>
        <p:nvSpPr>
          <p:cNvPr id="18" name="Text 16"/>
          <p:cNvSpPr/>
          <p:nvPr/>
        </p:nvSpPr>
        <p:spPr>
          <a:xfrm>
            <a:off x="548640" y="3794760"/>
            <a:ext cx="8046720" cy="868680"/>
          </a:xfrm>
          <a:prstGeom prst="rect">
            <a:avLst/>
          </a:prstGeom>
          <a:noFill/>
          <a:ln/>
        </p:spPr>
        <p:txBody>
          <a:bodyPr wrap="square" rtlCol="0" anchor="ctr"/>
          <a:lstStyle/>
          <a:p>
            <a:pPr indent="0" marL="0">
              <a:lnSpc>
                <a:spcPct val="140000"/>
              </a:lnSpc>
              <a:buNone/>
            </a:pPr>
            <a:r>
              <a:rPr lang="en-US" sz="1250" dirty="0">
                <a:solidFill>
                  <a:srgbClr val="C8E6C9"/>
                </a:solidFill>
                <a:latin typeface="Calibri" pitchFamily="34" charset="0"/>
                <a:ea typeface="Calibri" pitchFamily="34" charset="-122"/>
                <a:cs typeface="Calibri" pitchFamily="34" charset="-120"/>
              </a:rPr>
              <a:t>Existing tools like Plantix require stable internet to upload images for cloud inference. During monsoon windows or in deep rural areas, connectivity fails — leaving farmers in the dark during the critical 24–72 hour infection window.</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3D1A"/>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Our Solution</a:t>
            </a:r>
            <a:endParaRPr lang="en-US" sz="3200" dirty="0"/>
          </a:p>
        </p:txBody>
      </p:sp>
      <p:sp>
        <p:nvSpPr>
          <p:cNvPr id="3" name="Text 1"/>
          <p:cNvSpPr/>
          <p:nvPr/>
        </p:nvSpPr>
        <p:spPr>
          <a:xfrm>
            <a:off x="457200" y="777240"/>
            <a:ext cx="8229600" cy="347472"/>
          </a:xfrm>
          <a:prstGeom prst="rect">
            <a:avLst/>
          </a:prstGeom>
          <a:noFill/>
          <a:ln/>
        </p:spPr>
        <p:txBody>
          <a:bodyPr wrap="square" rtlCol="0" anchor="ctr"/>
          <a:lstStyle/>
          <a:p>
            <a:pPr indent="0" marL="0">
              <a:buNone/>
            </a:pPr>
            <a:r>
              <a:rPr lang="en-US" sz="1400" i="1" dirty="0">
                <a:solidFill>
                  <a:srgbClr val="74C98A"/>
                </a:solidFill>
                <a:latin typeface="Calibri" pitchFamily="34" charset="0"/>
                <a:ea typeface="Calibri" pitchFamily="34" charset="-122"/>
                <a:cs typeface="Calibri" pitchFamily="34" charset="-120"/>
              </a:rPr>
              <a:t>CropGuard AI — Designed for the last mile</a:t>
            </a:r>
            <a:endParaRPr lang="en-US" sz="1400" dirty="0"/>
          </a:p>
        </p:txBody>
      </p:sp>
      <p:sp>
        <p:nvSpPr>
          <p:cNvPr id="4" name="Shape 2"/>
          <p:cNvSpPr/>
          <p:nvPr/>
        </p:nvSpPr>
        <p:spPr>
          <a:xfrm>
            <a:off x="274320" y="1261872"/>
            <a:ext cx="1572768" cy="2606040"/>
          </a:xfrm>
          <a:prstGeom prst="roundRect">
            <a:avLst>
              <a:gd name="adj" fmla="val 8140"/>
            </a:avLst>
          </a:prstGeom>
          <a:solidFill>
            <a:srgbClr val="1A6B2E"/>
          </a:solidFill>
          <a:ln/>
        </p:spPr>
      </p:sp>
      <p:sp>
        <p:nvSpPr>
          <p:cNvPr id="5" name="Shape 3"/>
          <p:cNvSpPr/>
          <p:nvPr/>
        </p:nvSpPr>
        <p:spPr>
          <a:xfrm>
            <a:off x="822960" y="1353312"/>
            <a:ext cx="475488" cy="475488"/>
          </a:xfrm>
          <a:prstGeom prst="ellipse">
            <a:avLst/>
          </a:prstGeom>
          <a:solidFill>
            <a:srgbClr val="E8A222"/>
          </a:solidFill>
          <a:ln/>
        </p:spPr>
      </p:sp>
      <p:sp>
        <p:nvSpPr>
          <p:cNvPr id="6" name="Text 4"/>
          <p:cNvSpPr/>
          <p:nvPr/>
        </p:nvSpPr>
        <p:spPr>
          <a:xfrm>
            <a:off x="822960" y="1353312"/>
            <a:ext cx="475488" cy="475488"/>
          </a:xfrm>
          <a:prstGeom prst="rect">
            <a:avLst/>
          </a:prstGeom>
          <a:noFill/>
          <a:ln/>
        </p:spPr>
        <p:txBody>
          <a:bodyPr wrap="square" lIns="0" tIns="0" rIns="0" bIns="0" rtlCol="0" anchor="ctr"/>
          <a:lstStyle/>
          <a:p>
            <a:pPr algn="ctr" indent="0" marL="0">
              <a:buNone/>
            </a:pPr>
            <a:r>
              <a:rPr lang="en-US" sz="1300" b="1" dirty="0">
                <a:solidFill>
                  <a:srgbClr val="0D3D1A"/>
                </a:solidFill>
              </a:rPr>
              <a:t>1</a:t>
            </a:r>
            <a:endParaRPr lang="en-US" sz="1300" dirty="0"/>
          </a:p>
        </p:txBody>
      </p:sp>
      <p:sp>
        <p:nvSpPr>
          <p:cNvPr id="7" name="Text 5"/>
          <p:cNvSpPr/>
          <p:nvPr/>
        </p:nvSpPr>
        <p:spPr>
          <a:xfrm>
            <a:off x="274320" y="1865376"/>
            <a:ext cx="1572768" cy="512064"/>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8" name="Text 6"/>
          <p:cNvSpPr/>
          <p:nvPr/>
        </p:nvSpPr>
        <p:spPr>
          <a:xfrm>
            <a:off x="274320" y="2377440"/>
            <a:ext cx="1572768" cy="384048"/>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One Tap</a:t>
            </a:r>
            <a:endParaRPr lang="en-US" sz="1200" dirty="0"/>
          </a:p>
        </p:txBody>
      </p:sp>
      <p:sp>
        <p:nvSpPr>
          <p:cNvPr id="9" name="Text 7"/>
          <p:cNvSpPr/>
          <p:nvPr/>
        </p:nvSpPr>
        <p:spPr>
          <a:xfrm>
            <a:off x="274320" y="2743200"/>
            <a:ext cx="1572768" cy="822960"/>
          </a:xfrm>
          <a:prstGeom prst="rect">
            <a:avLst/>
          </a:prstGeom>
          <a:noFill/>
          <a:ln/>
        </p:spPr>
        <p:txBody>
          <a:bodyPr wrap="square" rtlCol="0" anchor="ctr"/>
          <a:lstStyle/>
          <a:p>
            <a:pPr algn="ctr" indent="0" marL="0">
              <a:lnSpc>
                <a:spcPct val="130000"/>
              </a:lnSpc>
              <a:buNone/>
            </a:pPr>
            <a:r>
              <a:rPr lang="en-US" sz="1000" dirty="0">
                <a:solidFill>
                  <a:srgbClr val="C8E6C9"/>
                </a:solidFill>
                <a:latin typeface="Calibri" pitchFamily="34" charset="0"/>
                <a:ea typeface="Calibri" pitchFamily="34" charset="-122"/>
                <a:cs typeface="Calibri" pitchFamily="34" charset="-120"/>
              </a:rPr>
              <a:t>No login, no forms.</a:t>
            </a:r>
            <a:endParaRPr lang="en-US" sz="1000" dirty="0"/>
          </a:p>
          <a:p>
            <a:pPr algn="ctr" indent="0" marL="0">
              <a:lnSpc>
                <a:spcPct val="130000"/>
              </a:lnSpc>
              <a:buNone/>
            </a:pPr>
            <a:r>
              <a:rPr lang="en-US" sz="1000" dirty="0">
                <a:solidFill>
                  <a:srgbClr val="C8E6C9"/>
                </a:solidFill>
                <a:latin typeface="Calibri" pitchFamily="34" charset="0"/>
                <a:ea typeface="Calibri" pitchFamily="34" charset="-122"/>
                <a:cs typeface="Calibri" pitchFamily="34" charset="-120"/>
              </a:rPr>
              <a:t>One button — camera ready.</a:t>
            </a:r>
            <a:endParaRPr lang="en-US" sz="1000" dirty="0"/>
          </a:p>
        </p:txBody>
      </p:sp>
      <p:sp>
        <p:nvSpPr>
          <p:cNvPr id="10" name="Shape 8"/>
          <p:cNvSpPr/>
          <p:nvPr/>
        </p:nvSpPr>
        <p:spPr>
          <a:xfrm>
            <a:off x="2011680" y="1261872"/>
            <a:ext cx="1572768" cy="2606040"/>
          </a:xfrm>
          <a:prstGeom prst="roundRect">
            <a:avLst>
              <a:gd name="adj" fmla="val 8140"/>
            </a:avLst>
          </a:prstGeom>
          <a:solidFill>
            <a:srgbClr val="1A6B2E"/>
          </a:solidFill>
          <a:ln/>
        </p:spPr>
      </p:sp>
      <p:sp>
        <p:nvSpPr>
          <p:cNvPr id="11" name="Shape 9"/>
          <p:cNvSpPr/>
          <p:nvPr/>
        </p:nvSpPr>
        <p:spPr>
          <a:xfrm>
            <a:off x="2560320" y="1353312"/>
            <a:ext cx="475488" cy="475488"/>
          </a:xfrm>
          <a:prstGeom prst="ellipse">
            <a:avLst/>
          </a:prstGeom>
          <a:solidFill>
            <a:srgbClr val="E8A222"/>
          </a:solidFill>
          <a:ln/>
        </p:spPr>
      </p:sp>
      <p:sp>
        <p:nvSpPr>
          <p:cNvPr id="12" name="Text 10"/>
          <p:cNvSpPr/>
          <p:nvPr/>
        </p:nvSpPr>
        <p:spPr>
          <a:xfrm>
            <a:off x="2560320" y="1353312"/>
            <a:ext cx="475488" cy="475488"/>
          </a:xfrm>
          <a:prstGeom prst="rect">
            <a:avLst/>
          </a:prstGeom>
          <a:noFill/>
          <a:ln/>
        </p:spPr>
        <p:txBody>
          <a:bodyPr wrap="square" lIns="0" tIns="0" rIns="0" bIns="0" rtlCol="0" anchor="ctr"/>
          <a:lstStyle/>
          <a:p>
            <a:pPr algn="ctr" indent="0" marL="0">
              <a:buNone/>
            </a:pPr>
            <a:r>
              <a:rPr lang="en-US" sz="1300" b="1" dirty="0">
                <a:solidFill>
                  <a:srgbClr val="0D3D1A"/>
                </a:solidFill>
              </a:rPr>
              <a:t>2</a:t>
            </a:r>
            <a:endParaRPr lang="en-US" sz="1300" dirty="0"/>
          </a:p>
        </p:txBody>
      </p:sp>
      <p:sp>
        <p:nvSpPr>
          <p:cNvPr id="13" name="Text 11"/>
          <p:cNvSpPr/>
          <p:nvPr/>
        </p:nvSpPr>
        <p:spPr>
          <a:xfrm>
            <a:off x="2011680" y="1865376"/>
            <a:ext cx="1572768" cy="512064"/>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4" name="Text 12"/>
          <p:cNvSpPr/>
          <p:nvPr/>
        </p:nvSpPr>
        <p:spPr>
          <a:xfrm>
            <a:off x="2011680" y="2377440"/>
            <a:ext cx="1572768" cy="384048"/>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Photograph</a:t>
            </a:r>
            <a:endParaRPr lang="en-US" sz="1200" dirty="0"/>
          </a:p>
        </p:txBody>
      </p:sp>
      <p:sp>
        <p:nvSpPr>
          <p:cNvPr id="15" name="Text 13"/>
          <p:cNvSpPr/>
          <p:nvPr/>
        </p:nvSpPr>
        <p:spPr>
          <a:xfrm>
            <a:off x="2011680" y="2743200"/>
            <a:ext cx="1572768" cy="822960"/>
          </a:xfrm>
          <a:prstGeom prst="rect">
            <a:avLst/>
          </a:prstGeom>
          <a:noFill/>
          <a:ln/>
        </p:spPr>
        <p:txBody>
          <a:bodyPr wrap="square" rtlCol="0" anchor="ctr"/>
          <a:lstStyle/>
          <a:p>
            <a:pPr algn="ctr" indent="0" marL="0">
              <a:lnSpc>
                <a:spcPct val="130000"/>
              </a:lnSpc>
              <a:buNone/>
            </a:pPr>
            <a:r>
              <a:rPr lang="en-US" sz="1000" dirty="0">
                <a:solidFill>
                  <a:srgbClr val="C8E6C9"/>
                </a:solidFill>
                <a:latin typeface="Calibri" pitchFamily="34" charset="0"/>
                <a:ea typeface="Calibri" pitchFamily="34" charset="-122"/>
                <a:cs typeface="Calibri" pitchFamily="34" charset="-120"/>
              </a:rPr>
              <a:t>Snap the diseased leaf.</a:t>
            </a:r>
            <a:endParaRPr lang="en-US" sz="1000" dirty="0"/>
          </a:p>
          <a:p>
            <a:pPr algn="ctr" indent="0" marL="0">
              <a:lnSpc>
                <a:spcPct val="130000"/>
              </a:lnSpc>
              <a:buNone/>
            </a:pPr>
            <a:r>
              <a:rPr lang="en-US" sz="1000" dirty="0">
                <a:solidFill>
                  <a:srgbClr val="C8E6C9"/>
                </a:solidFill>
                <a:latin typeface="Calibri" pitchFamily="34" charset="0"/>
                <a:ea typeface="Calibri" pitchFamily="34" charset="-122"/>
                <a:cs typeface="Calibri" pitchFamily="34" charset="-120"/>
              </a:rPr>
              <a:t>Auto-brightness correction.</a:t>
            </a:r>
            <a:endParaRPr lang="en-US" sz="1000" dirty="0"/>
          </a:p>
        </p:txBody>
      </p:sp>
      <p:sp>
        <p:nvSpPr>
          <p:cNvPr id="16" name="Shape 14"/>
          <p:cNvSpPr/>
          <p:nvPr/>
        </p:nvSpPr>
        <p:spPr>
          <a:xfrm>
            <a:off x="3749040" y="1261872"/>
            <a:ext cx="1572768" cy="2606040"/>
          </a:xfrm>
          <a:prstGeom prst="roundRect">
            <a:avLst>
              <a:gd name="adj" fmla="val 8140"/>
            </a:avLst>
          </a:prstGeom>
          <a:solidFill>
            <a:srgbClr val="1A6B2E"/>
          </a:solidFill>
          <a:ln/>
        </p:spPr>
      </p:sp>
      <p:sp>
        <p:nvSpPr>
          <p:cNvPr id="17" name="Shape 15"/>
          <p:cNvSpPr/>
          <p:nvPr/>
        </p:nvSpPr>
        <p:spPr>
          <a:xfrm>
            <a:off x="4297680" y="1353312"/>
            <a:ext cx="475488" cy="475488"/>
          </a:xfrm>
          <a:prstGeom prst="ellipse">
            <a:avLst/>
          </a:prstGeom>
          <a:solidFill>
            <a:srgbClr val="E8A222"/>
          </a:solidFill>
          <a:ln/>
        </p:spPr>
      </p:sp>
      <p:sp>
        <p:nvSpPr>
          <p:cNvPr id="18" name="Text 16"/>
          <p:cNvSpPr/>
          <p:nvPr/>
        </p:nvSpPr>
        <p:spPr>
          <a:xfrm>
            <a:off x="4297680" y="1353312"/>
            <a:ext cx="475488" cy="475488"/>
          </a:xfrm>
          <a:prstGeom prst="rect">
            <a:avLst/>
          </a:prstGeom>
          <a:noFill/>
          <a:ln/>
        </p:spPr>
        <p:txBody>
          <a:bodyPr wrap="square" lIns="0" tIns="0" rIns="0" bIns="0" rtlCol="0" anchor="ctr"/>
          <a:lstStyle/>
          <a:p>
            <a:pPr algn="ctr" indent="0" marL="0">
              <a:buNone/>
            </a:pPr>
            <a:r>
              <a:rPr lang="en-US" sz="1300" b="1" dirty="0">
                <a:solidFill>
                  <a:srgbClr val="0D3D1A"/>
                </a:solidFill>
              </a:rPr>
              <a:t>3</a:t>
            </a:r>
            <a:endParaRPr lang="en-US" sz="1300" dirty="0"/>
          </a:p>
        </p:txBody>
      </p:sp>
      <p:sp>
        <p:nvSpPr>
          <p:cNvPr id="19" name="Text 17"/>
          <p:cNvSpPr/>
          <p:nvPr/>
        </p:nvSpPr>
        <p:spPr>
          <a:xfrm>
            <a:off x="3749040" y="1865376"/>
            <a:ext cx="1572768" cy="512064"/>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0" name="Text 18"/>
          <p:cNvSpPr/>
          <p:nvPr/>
        </p:nvSpPr>
        <p:spPr>
          <a:xfrm>
            <a:off x="3749040" y="2377440"/>
            <a:ext cx="1572768" cy="384048"/>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On-Device AI</a:t>
            </a:r>
            <a:endParaRPr lang="en-US" sz="1200" dirty="0"/>
          </a:p>
        </p:txBody>
      </p:sp>
      <p:sp>
        <p:nvSpPr>
          <p:cNvPr id="21" name="Text 19"/>
          <p:cNvSpPr/>
          <p:nvPr/>
        </p:nvSpPr>
        <p:spPr>
          <a:xfrm>
            <a:off x="3749040" y="2743200"/>
            <a:ext cx="1572768" cy="822960"/>
          </a:xfrm>
          <a:prstGeom prst="rect">
            <a:avLst/>
          </a:prstGeom>
          <a:noFill/>
          <a:ln/>
        </p:spPr>
        <p:txBody>
          <a:bodyPr wrap="square" rtlCol="0" anchor="ctr"/>
          <a:lstStyle/>
          <a:p>
            <a:pPr algn="ctr" indent="0" marL="0">
              <a:lnSpc>
                <a:spcPct val="130000"/>
              </a:lnSpc>
              <a:buNone/>
            </a:pPr>
            <a:r>
              <a:rPr lang="en-US" sz="1000" dirty="0">
                <a:solidFill>
                  <a:srgbClr val="C8E6C9"/>
                </a:solidFill>
                <a:latin typeface="Calibri" pitchFamily="34" charset="0"/>
                <a:ea typeface="Calibri" pitchFamily="34" charset="-122"/>
                <a:cs typeface="Calibri" pitchFamily="34" charset="-120"/>
              </a:rPr>
              <a:t>MobileNetV2 runs locally.</a:t>
            </a:r>
            <a:endParaRPr lang="en-US" sz="1000" dirty="0"/>
          </a:p>
          <a:p>
            <a:pPr algn="ctr" indent="0" marL="0">
              <a:lnSpc>
                <a:spcPct val="130000"/>
              </a:lnSpc>
              <a:buNone/>
            </a:pPr>
            <a:r>
              <a:rPr lang="en-US" sz="1000" dirty="0">
                <a:solidFill>
                  <a:srgbClr val="C8E6C9"/>
                </a:solidFill>
                <a:latin typeface="Calibri" pitchFamily="34" charset="0"/>
                <a:ea typeface="Calibri" pitchFamily="34" charset="-122"/>
                <a:cs typeface="Calibri" pitchFamily="34" charset="-120"/>
              </a:rPr>
              <a:t>Zero internet needed.</a:t>
            </a:r>
            <a:endParaRPr lang="en-US" sz="1000" dirty="0"/>
          </a:p>
        </p:txBody>
      </p:sp>
      <p:sp>
        <p:nvSpPr>
          <p:cNvPr id="22" name="Shape 20"/>
          <p:cNvSpPr/>
          <p:nvPr/>
        </p:nvSpPr>
        <p:spPr>
          <a:xfrm>
            <a:off x="5486400" y="1261872"/>
            <a:ext cx="1572768" cy="2606040"/>
          </a:xfrm>
          <a:prstGeom prst="roundRect">
            <a:avLst>
              <a:gd name="adj" fmla="val 8140"/>
            </a:avLst>
          </a:prstGeom>
          <a:solidFill>
            <a:srgbClr val="1A6B2E"/>
          </a:solidFill>
          <a:ln/>
        </p:spPr>
      </p:sp>
      <p:sp>
        <p:nvSpPr>
          <p:cNvPr id="23" name="Shape 21"/>
          <p:cNvSpPr/>
          <p:nvPr/>
        </p:nvSpPr>
        <p:spPr>
          <a:xfrm>
            <a:off x="6035040" y="1353312"/>
            <a:ext cx="475488" cy="475488"/>
          </a:xfrm>
          <a:prstGeom prst="ellipse">
            <a:avLst/>
          </a:prstGeom>
          <a:solidFill>
            <a:srgbClr val="E8A222"/>
          </a:solidFill>
          <a:ln/>
        </p:spPr>
      </p:sp>
      <p:sp>
        <p:nvSpPr>
          <p:cNvPr id="24" name="Text 22"/>
          <p:cNvSpPr/>
          <p:nvPr/>
        </p:nvSpPr>
        <p:spPr>
          <a:xfrm>
            <a:off x="6035040" y="1353312"/>
            <a:ext cx="475488" cy="475488"/>
          </a:xfrm>
          <a:prstGeom prst="rect">
            <a:avLst/>
          </a:prstGeom>
          <a:noFill/>
          <a:ln/>
        </p:spPr>
        <p:txBody>
          <a:bodyPr wrap="square" lIns="0" tIns="0" rIns="0" bIns="0" rtlCol="0" anchor="ctr"/>
          <a:lstStyle/>
          <a:p>
            <a:pPr algn="ctr" indent="0" marL="0">
              <a:buNone/>
            </a:pPr>
            <a:r>
              <a:rPr lang="en-US" sz="1300" b="1" dirty="0">
                <a:solidFill>
                  <a:srgbClr val="0D3D1A"/>
                </a:solidFill>
              </a:rPr>
              <a:t>4</a:t>
            </a:r>
            <a:endParaRPr lang="en-US" sz="1300" dirty="0"/>
          </a:p>
        </p:txBody>
      </p:sp>
      <p:sp>
        <p:nvSpPr>
          <p:cNvPr id="25" name="Text 23"/>
          <p:cNvSpPr/>
          <p:nvPr/>
        </p:nvSpPr>
        <p:spPr>
          <a:xfrm>
            <a:off x="5486400" y="1865376"/>
            <a:ext cx="1572768" cy="512064"/>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6" name="Text 24"/>
          <p:cNvSpPr/>
          <p:nvPr/>
        </p:nvSpPr>
        <p:spPr>
          <a:xfrm>
            <a:off x="5486400" y="2377440"/>
            <a:ext cx="1572768" cy="384048"/>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Clear Result</a:t>
            </a:r>
            <a:endParaRPr lang="en-US" sz="1200" dirty="0"/>
          </a:p>
        </p:txBody>
      </p:sp>
      <p:sp>
        <p:nvSpPr>
          <p:cNvPr id="27" name="Text 25"/>
          <p:cNvSpPr/>
          <p:nvPr/>
        </p:nvSpPr>
        <p:spPr>
          <a:xfrm>
            <a:off x="5486400" y="2743200"/>
            <a:ext cx="1572768" cy="822960"/>
          </a:xfrm>
          <a:prstGeom prst="rect">
            <a:avLst/>
          </a:prstGeom>
          <a:noFill/>
          <a:ln/>
        </p:spPr>
        <p:txBody>
          <a:bodyPr wrap="square" rtlCol="0" anchor="ctr"/>
          <a:lstStyle/>
          <a:p>
            <a:pPr algn="ctr" indent="0" marL="0">
              <a:lnSpc>
                <a:spcPct val="130000"/>
              </a:lnSpc>
              <a:buNone/>
            </a:pPr>
            <a:r>
              <a:rPr lang="en-US" sz="1000" dirty="0">
                <a:solidFill>
                  <a:srgbClr val="C8E6C9"/>
                </a:solidFill>
                <a:latin typeface="Calibri" pitchFamily="34" charset="0"/>
                <a:ea typeface="Calibri" pitchFamily="34" charset="-122"/>
                <a:cs typeface="Calibri" pitchFamily="34" charset="-120"/>
              </a:rPr>
              <a:t>Colour-coded severity card</a:t>
            </a:r>
            <a:endParaRPr lang="en-US" sz="1000" dirty="0"/>
          </a:p>
          <a:p>
            <a:pPr algn="ctr" indent="0" marL="0">
              <a:lnSpc>
                <a:spcPct val="130000"/>
              </a:lnSpc>
              <a:buNone/>
            </a:pPr>
            <a:r>
              <a:rPr lang="en-US" sz="1000" dirty="0">
                <a:solidFill>
                  <a:srgbClr val="C8E6C9"/>
                </a:solidFill>
                <a:latin typeface="Calibri" pitchFamily="34" charset="0"/>
                <a:ea typeface="Calibri" pitchFamily="34" charset="-122"/>
                <a:cs typeface="Calibri" pitchFamily="34" charset="-120"/>
              </a:rPr>
              <a:t>with disease + confidence.</a:t>
            </a:r>
            <a:endParaRPr lang="en-US" sz="1000" dirty="0"/>
          </a:p>
        </p:txBody>
      </p:sp>
      <p:sp>
        <p:nvSpPr>
          <p:cNvPr id="28" name="Shape 26"/>
          <p:cNvSpPr/>
          <p:nvPr/>
        </p:nvSpPr>
        <p:spPr>
          <a:xfrm>
            <a:off x="7223760" y="1261872"/>
            <a:ext cx="1572768" cy="2606040"/>
          </a:xfrm>
          <a:prstGeom prst="roundRect">
            <a:avLst>
              <a:gd name="adj" fmla="val 8140"/>
            </a:avLst>
          </a:prstGeom>
          <a:solidFill>
            <a:srgbClr val="1A6B2E"/>
          </a:solidFill>
          <a:ln/>
        </p:spPr>
      </p:sp>
      <p:sp>
        <p:nvSpPr>
          <p:cNvPr id="29" name="Shape 27"/>
          <p:cNvSpPr/>
          <p:nvPr/>
        </p:nvSpPr>
        <p:spPr>
          <a:xfrm>
            <a:off x="7772400" y="1353312"/>
            <a:ext cx="475488" cy="475488"/>
          </a:xfrm>
          <a:prstGeom prst="ellipse">
            <a:avLst/>
          </a:prstGeom>
          <a:solidFill>
            <a:srgbClr val="E8A222"/>
          </a:solidFill>
          <a:ln/>
        </p:spPr>
      </p:sp>
      <p:sp>
        <p:nvSpPr>
          <p:cNvPr id="30" name="Text 28"/>
          <p:cNvSpPr/>
          <p:nvPr/>
        </p:nvSpPr>
        <p:spPr>
          <a:xfrm>
            <a:off x="7772400" y="1353312"/>
            <a:ext cx="475488" cy="475488"/>
          </a:xfrm>
          <a:prstGeom prst="rect">
            <a:avLst/>
          </a:prstGeom>
          <a:noFill/>
          <a:ln/>
        </p:spPr>
        <p:txBody>
          <a:bodyPr wrap="square" lIns="0" tIns="0" rIns="0" bIns="0" rtlCol="0" anchor="ctr"/>
          <a:lstStyle/>
          <a:p>
            <a:pPr algn="ctr" indent="0" marL="0">
              <a:buNone/>
            </a:pPr>
            <a:r>
              <a:rPr lang="en-US" sz="1300" b="1" dirty="0">
                <a:solidFill>
                  <a:srgbClr val="0D3D1A"/>
                </a:solidFill>
              </a:rPr>
              <a:t>5</a:t>
            </a:r>
            <a:endParaRPr lang="en-US" sz="1300" dirty="0"/>
          </a:p>
        </p:txBody>
      </p:sp>
      <p:sp>
        <p:nvSpPr>
          <p:cNvPr id="31" name="Text 29"/>
          <p:cNvSpPr/>
          <p:nvPr/>
        </p:nvSpPr>
        <p:spPr>
          <a:xfrm>
            <a:off x="7223760" y="1865376"/>
            <a:ext cx="1572768" cy="512064"/>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2" name="Text 30"/>
          <p:cNvSpPr/>
          <p:nvPr/>
        </p:nvSpPr>
        <p:spPr>
          <a:xfrm>
            <a:off x="7223760" y="2377440"/>
            <a:ext cx="1572768" cy="384048"/>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Voice Readout</a:t>
            </a:r>
            <a:endParaRPr lang="en-US" sz="1200" dirty="0"/>
          </a:p>
        </p:txBody>
      </p:sp>
      <p:sp>
        <p:nvSpPr>
          <p:cNvPr id="33" name="Text 31"/>
          <p:cNvSpPr/>
          <p:nvPr/>
        </p:nvSpPr>
        <p:spPr>
          <a:xfrm>
            <a:off x="7223760" y="2743200"/>
            <a:ext cx="1572768" cy="822960"/>
          </a:xfrm>
          <a:prstGeom prst="rect">
            <a:avLst/>
          </a:prstGeom>
          <a:noFill/>
          <a:ln/>
        </p:spPr>
        <p:txBody>
          <a:bodyPr wrap="square" rtlCol="0" anchor="ctr"/>
          <a:lstStyle/>
          <a:p>
            <a:pPr algn="ctr" indent="0" marL="0">
              <a:lnSpc>
                <a:spcPct val="130000"/>
              </a:lnSpc>
              <a:buNone/>
            </a:pPr>
            <a:r>
              <a:rPr lang="en-US" sz="1000" dirty="0">
                <a:solidFill>
                  <a:srgbClr val="C8E6C9"/>
                </a:solidFill>
                <a:latin typeface="Calibri" pitchFamily="34" charset="0"/>
                <a:ea typeface="Calibri" pitchFamily="34" charset="-122"/>
                <a:cs typeface="Calibri" pitchFamily="34" charset="-120"/>
              </a:rPr>
              <a:t>Full diagnosis read aloud</a:t>
            </a:r>
            <a:endParaRPr lang="en-US" sz="1000" dirty="0"/>
          </a:p>
          <a:p>
            <a:pPr algn="ctr" indent="0" marL="0">
              <a:lnSpc>
                <a:spcPct val="130000"/>
              </a:lnSpc>
              <a:buNone/>
            </a:pPr>
            <a:r>
              <a:rPr lang="en-US" sz="1000" dirty="0">
                <a:solidFill>
                  <a:srgbClr val="C8E6C9"/>
                </a:solidFill>
                <a:latin typeface="Calibri" pitchFamily="34" charset="0"/>
                <a:ea typeface="Calibri" pitchFamily="34" charset="-122"/>
                <a:cs typeface="Calibri" pitchFamily="34" charset="-120"/>
              </a:rPr>
              <a:t>in Hindi. Literacy-free.</a:t>
            </a:r>
            <a:endParaRPr lang="en-US" sz="1000" dirty="0"/>
          </a:p>
        </p:txBody>
      </p:sp>
      <p:sp>
        <p:nvSpPr>
          <p:cNvPr id="34" name="Shape 32"/>
          <p:cNvSpPr/>
          <p:nvPr/>
        </p:nvSpPr>
        <p:spPr>
          <a:xfrm>
            <a:off x="274320" y="4005072"/>
            <a:ext cx="8595360" cy="841248"/>
          </a:xfrm>
          <a:prstGeom prst="roundRect">
            <a:avLst>
              <a:gd name="adj" fmla="val 10870"/>
            </a:avLst>
          </a:prstGeom>
          <a:solidFill>
            <a:srgbClr val="2E9E4F">
              <a:alpha val="85000"/>
            </a:srgbClr>
          </a:solidFill>
          <a:ln/>
        </p:spPr>
      </p:sp>
      <p:sp>
        <p:nvSpPr>
          <p:cNvPr id="35" name="Text 33"/>
          <p:cNvSpPr/>
          <p:nvPr/>
        </p:nvSpPr>
        <p:spPr>
          <a:xfrm>
            <a:off x="274320" y="4005072"/>
            <a:ext cx="8595360" cy="8412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Completely offline   ·   🇮🇳  Hindi + voice   ·   🌾  5 major crops   ·   📋  ICAR protocols   ·   ⚡  Under 10 seconds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200" b="1" dirty="0">
                <a:solidFill>
                  <a:srgbClr val="0D3D1A"/>
                </a:solidFill>
                <a:latin typeface="Cambria" pitchFamily="34" charset="0"/>
                <a:ea typeface="Cambria" pitchFamily="34" charset="-122"/>
                <a:cs typeface="Cambria" pitchFamily="34" charset="-120"/>
              </a:rPr>
              <a:t>AI / ML Architecture</a:t>
            </a:r>
            <a:endParaRPr lang="en-US" sz="3200" dirty="0"/>
          </a:p>
        </p:txBody>
      </p:sp>
      <p:sp>
        <p:nvSpPr>
          <p:cNvPr id="3" name="Shape 1"/>
          <p:cNvSpPr/>
          <p:nvPr/>
        </p:nvSpPr>
        <p:spPr>
          <a:xfrm>
            <a:off x="365760" y="1115568"/>
            <a:ext cx="4206240" cy="749808"/>
          </a:xfrm>
          <a:prstGeom prst="roundRect">
            <a:avLst>
              <a:gd name="adj" fmla="val 12195"/>
            </a:avLst>
          </a:prstGeom>
          <a:solidFill>
            <a:srgbClr val="FFFFFF"/>
          </a:solidFill>
          <a:ln/>
          <a:effectLst>
            <a:outerShdw sx="100000" sy="100000" kx="0" ky="0" algn="bl" rotWithShape="0" blurRad="101600" dist="38100" dir="2700000">
              <a:srgbClr val="000000">
                <a:alpha val="13000"/>
              </a:srgbClr>
            </a:outerShdw>
          </a:effectLst>
        </p:spPr>
      </p:sp>
      <p:sp>
        <p:nvSpPr>
          <p:cNvPr id="4" name="Text 2"/>
          <p:cNvSpPr/>
          <p:nvPr/>
        </p:nvSpPr>
        <p:spPr>
          <a:xfrm>
            <a:off x="502920" y="1170432"/>
            <a:ext cx="3931920" cy="256032"/>
          </a:xfrm>
          <a:prstGeom prst="rect">
            <a:avLst/>
          </a:prstGeom>
          <a:noFill/>
          <a:ln/>
        </p:spPr>
        <p:txBody>
          <a:bodyPr wrap="square" rtlCol="0" anchor="ctr"/>
          <a:lstStyle/>
          <a:p>
            <a:pPr indent="0" marL="0">
              <a:buNone/>
            </a:pPr>
            <a:r>
              <a:rPr lang="en-US" sz="1200" b="1" dirty="0">
                <a:solidFill>
                  <a:srgbClr val="1A6B2E"/>
                </a:solidFill>
                <a:latin typeface="Cambria" pitchFamily="34" charset="0"/>
                <a:ea typeface="Cambria" pitchFamily="34" charset="-122"/>
                <a:cs typeface="Cambria" pitchFamily="34" charset="-120"/>
              </a:rPr>
              <a:t>Base Model</a:t>
            </a:r>
            <a:endParaRPr lang="en-US" sz="1200" dirty="0"/>
          </a:p>
        </p:txBody>
      </p:sp>
      <p:sp>
        <p:nvSpPr>
          <p:cNvPr id="5" name="Text 3"/>
          <p:cNvSpPr/>
          <p:nvPr/>
        </p:nvSpPr>
        <p:spPr>
          <a:xfrm>
            <a:off x="502920" y="1408176"/>
            <a:ext cx="3931920" cy="384048"/>
          </a:xfrm>
          <a:prstGeom prst="rect">
            <a:avLst/>
          </a:prstGeom>
          <a:noFill/>
          <a:ln/>
        </p:spPr>
        <p:txBody>
          <a:bodyPr wrap="square" rtlCol="0" anchor="ctr"/>
          <a:lstStyle/>
          <a:p>
            <a:pPr indent="0" marL="0">
              <a:lnSpc>
                <a:spcPct val="130000"/>
              </a:lnSpc>
              <a:buNone/>
            </a:pPr>
            <a:r>
              <a:rPr lang="en-US" sz="1050" dirty="0">
                <a:solidFill>
                  <a:srgbClr val="555555"/>
                </a:solidFill>
                <a:latin typeface="Calibri" pitchFamily="34" charset="0"/>
                <a:ea typeface="Calibri" pitchFamily="34" charset="-122"/>
                <a:cs typeface="Calibri" pitchFamily="34" charset="-120"/>
              </a:rPr>
              <a:t>MobileNetV2 — pretrained on ImageNet</a:t>
            </a:r>
            <a:endParaRPr lang="en-US" sz="1050" dirty="0"/>
          </a:p>
          <a:p>
            <a:pPr indent="0" marL="0">
              <a:lnSpc>
                <a:spcPct val="130000"/>
              </a:lnSpc>
              <a:buNone/>
            </a:pPr>
            <a:r>
              <a:rPr lang="en-US" sz="1050" dirty="0">
                <a:solidFill>
                  <a:srgbClr val="555555"/>
                </a:solidFill>
                <a:latin typeface="Calibri" pitchFamily="34" charset="0"/>
                <a:ea typeface="Calibri" pitchFamily="34" charset="-122"/>
                <a:cs typeface="Calibri" pitchFamily="34" charset="-120"/>
              </a:rPr>
              <a:t>1.4M parameters, depthwise separable conv</a:t>
            </a:r>
            <a:endParaRPr lang="en-US" sz="1050" dirty="0"/>
          </a:p>
        </p:txBody>
      </p:sp>
      <p:sp>
        <p:nvSpPr>
          <p:cNvPr id="6" name="Shape 4"/>
          <p:cNvSpPr/>
          <p:nvPr/>
        </p:nvSpPr>
        <p:spPr>
          <a:xfrm>
            <a:off x="365760" y="2029968"/>
            <a:ext cx="4206240" cy="749808"/>
          </a:xfrm>
          <a:prstGeom prst="roundRect">
            <a:avLst>
              <a:gd name="adj" fmla="val 12195"/>
            </a:avLst>
          </a:prstGeom>
          <a:solidFill>
            <a:srgbClr val="FFFFFF"/>
          </a:solidFill>
          <a:ln/>
          <a:effectLst>
            <a:outerShdw sx="100000" sy="100000" kx="0" ky="0" algn="bl" rotWithShape="0" blurRad="101600" dist="38100" dir="2700000">
              <a:srgbClr val="000000">
                <a:alpha val="13000"/>
              </a:srgbClr>
            </a:outerShdw>
          </a:effectLst>
        </p:spPr>
      </p:sp>
      <p:sp>
        <p:nvSpPr>
          <p:cNvPr id="7" name="Text 5"/>
          <p:cNvSpPr/>
          <p:nvPr/>
        </p:nvSpPr>
        <p:spPr>
          <a:xfrm>
            <a:off x="502920" y="2084832"/>
            <a:ext cx="3931920" cy="256032"/>
          </a:xfrm>
          <a:prstGeom prst="rect">
            <a:avLst/>
          </a:prstGeom>
          <a:noFill/>
          <a:ln/>
        </p:spPr>
        <p:txBody>
          <a:bodyPr wrap="square" rtlCol="0" anchor="ctr"/>
          <a:lstStyle/>
          <a:p>
            <a:pPr indent="0" marL="0">
              <a:buNone/>
            </a:pPr>
            <a:r>
              <a:rPr lang="en-US" sz="1200" b="1" dirty="0">
                <a:solidFill>
                  <a:srgbClr val="1A6B2E"/>
                </a:solidFill>
                <a:latin typeface="Cambria" pitchFamily="34" charset="0"/>
                <a:ea typeface="Cambria" pitchFamily="34" charset="-122"/>
                <a:cs typeface="Cambria" pitchFamily="34" charset="-120"/>
              </a:rPr>
              <a:t>Fine-tuning</a:t>
            </a:r>
            <a:endParaRPr lang="en-US" sz="1200" dirty="0"/>
          </a:p>
        </p:txBody>
      </p:sp>
      <p:sp>
        <p:nvSpPr>
          <p:cNvPr id="8" name="Text 6"/>
          <p:cNvSpPr/>
          <p:nvPr/>
        </p:nvSpPr>
        <p:spPr>
          <a:xfrm>
            <a:off x="502920" y="2322576"/>
            <a:ext cx="3931920" cy="384048"/>
          </a:xfrm>
          <a:prstGeom prst="rect">
            <a:avLst/>
          </a:prstGeom>
          <a:noFill/>
          <a:ln/>
        </p:spPr>
        <p:txBody>
          <a:bodyPr wrap="square" rtlCol="0" anchor="ctr"/>
          <a:lstStyle/>
          <a:p>
            <a:pPr indent="0" marL="0">
              <a:lnSpc>
                <a:spcPct val="130000"/>
              </a:lnSpc>
              <a:buNone/>
            </a:pPr>
            <a:r>
              <a:rPr lang="en-US" sz="1050" dirty="0">
                <a:solidFill>
                  <a:srgbClr val="555555"/>
                </a:solidFill>
                <a:latin typeface="Calibri" pitchFamily="34" charset="0"/>
                <a:ea typeface="Calibri" pitchFamily="34" charset="-122"/>
                <a:cs typeface="Calibri" pitchFamily="34" charset="-120"/>
              </a:rPr>
              <a:t>Transfer learning on 54K+ images</a:t>
            </a:r>
            <a:endParaRPr lang="en-US" sz="1050" dirty="0"/>
          </a:p>
          <a:p>
            <a:pPr indent="0" marL="0">
              <a:lnSpc>
                <a:spcPct val="130000"/>
              </a:lnSpc>
              <a:buNone/>
            </a:pPr>
            <a:r>
              <a:rPr lang="en-US" sz="1050" dirty="0">
                <a:solidFill>
                  <a:srgbClr val="555555"/>
                </a:solidFill>
                <a:latin typeface="Calibri" pitchFamily="34" charset="0"/>
                <a:ea typeface="Calibri" pitchFamily="34" charset="-122"/>
                <a:cs typeface="Calibri" pitchFamily="34" charset="-120"/>
              </a:rPr>
              <a:t>Target: 85%+ validation accuracy</a:t>
            </a:r>
            <a:endParaRPr lang="en-US" sz="1050" dirty="0"/>
          </a:p>
        </p:txBody>
      </p:sp>
      <p:sp>
        <p:nvSpPr>
          <p:cNvPr id="9" name="Shape 7"/>
          <p:cNvSpPr/>
          <p:nvPr/>
        </p:nvSpPr>
        <p:spPr>
          <a:xfrm>
            <a:off x="365760" y="2944368"/>
            <a:ext cx="4206240" cy="749808"/>
          </a:xfrm>
          <a:prstGeom prst="roundRect">
            <a:avLst>
              <a:gd name="adj" fmla="val 12195"/>
            </a:avLst>
          </a:prstGeom>
          <a:solidFill>
            <a:srgbClr val="FFFFFF"/>
          </a:solidFill>
          <a:ln/>
          <a:effectLst>
            <a:outerShdw sx="100000" sy="100000" kx="0" ky="0" algn="bl" rotWithShape="0" blurRad="101600" dist="38100" dir="2700000">
              <a:srgbClr val="000000">
                <a:alpha val="13000"/>
              </a:srgbClr>
            </a:outerShdw>
          </a:effectLst>
        </p:spPr>
      </p:sp>
      <p:sp>
        <p:nvSpPr>
          <p:cNvPr id="10" name="Text 8"/>
          <p:cNvSpPr/>
          <p:nvPr/>
        </p:nvSpPr>
        <p:spPr>
          <a:xfrm>
            <a:off x="502920" y="2999232"/>
            <a:ext cx="3931920" cy="256032"/>
          </a:xfrm>
          <a:prstGeom prst="rect">
            <a:avLst/>
          </a:prstGeom>
          <a:noFill/>
          <a:ln/>
        </p:spPr>
        <p:txBody>
          <a:bodyPr wrap="square" rtlCol="0" anchor="ctr"/>
          <a:lstStyle/>
          <a:p>
            <a:pPr indent="0" marL="0">
              <a:buNone/>
            </a:pPr>
            <a:r>
              <a:rPr lang="en-US" sz="1200" b="1" dirty="0">
                <a:solidFill>
                  <a:srgbClr val="1A6B2E"/>
                </a:solidFill>
                <a:latin typeface="Cambria" pitchFamily="34" charset="0"/>
                <a:ea typeface="Cambria" pitchFamily="34" charset="-122"/>
                <a:cs typeface="Cambria" pitchFamily="34" charset="-120"/>
              </a:rPr>
              <a:t>Export</a:t>
            </a:r>
            <a:endParaRPr lang="en-US" sz="1200" dirty="0"/>
          </a:p>
        </p:txBody>
      </p:sp>
      <p:sp>
        <p:nvSpPr>
          <p:cNvPr id="11" name="Text 9"/>
          <p:cNvSpPr/>
          <p:nvPr/>
        </p:nvSpPr>
        <p:spPr>
          <a:xfrm>
            <a:off x="502920" y="3236976"/>
            <a:ext cx="3931920" cy="384048"/>
          </a:xfrm>
          <a:prstGeom prst="rect">
            <a:avLst/>
          </a:prstGeom>
          <a:noFill/>
          <a:ln/>
        </p:spPr>
        <p:txBody>
          <a:bodyPr wrap="square" rtlCol="0" anchor="ctr"/>
          <a:lstStyle/>
          <a:p>
            <a:pPr indent="0" marL="0">
              <a:lnSpc>
                <a:spcPct val="130000"/>
              </a:lnSpc>
              <a:buNone/>
            </a:pPr>
            <a:r>
              <a:rPr lang="en-US" sz="1050" dirty="0">
                <a:solidFill>
                  <a:srgbClr val="555555"/>
                </a:solidFill>
                <a:latin typeface="Calibri" pitchFamily="34" charset="0"/>
                <a:ea typeface="Calibri" pitchFamily="34" charset="-122"/>
                <a:cs typeface="Calibri" pitchFamily="34" charset="-120"/>
              </a:rPr>
              <a:t>tensorflowjs_converter — uint8 quantized</a:t>
            </a:r>
            <a:endParaRPr lang="en-US" sz="1050" dirty="0"/>
          </a:p>
          <a:p>
            <a:pPr indent="0" marL="0">
              <a:lnSpc>
                <a:spcPct val="130000"/>
              </a:lnSpc>
              <a:buNone/>
            </a:pPr>
            <a:r>
              <a:rPr lang="en-US" sz="1050" dirty="0">
                <a:solidFill>
                  <a:srgbClr val="555555"/>
                </a:solidFill>
                <a:latin typeface="Calibri" pitchFamily="34" charset="0"/>
                <a:ea typeface="Calibri" pitchFamily="34" charset="-122"/>
                <a:cs typeface="Calibri" pitchFamily="34" charset="-120"/>
              </a:rPr>
              <a:t>4.2 MB total (4× smaller than float32)</a:t>
            </a:r>
            <a:endParaRPr lang="en-US" sz="1050" dirty="0"/>
          </a:p>
        </p:txBody>
      </p:sp>
      <p:sp>
        <p:nvSpPr>
          <p:cNvPr id="12" name="Shape 10"/>
          <p:cNvSpPr/>
          <p:nvPr/>
        </p:nvSpPr>
        <p:spPr>
          <a:xfrm>
            <a:off x="365760" y="3858768"/>
            <a:ext cx="4206240" cy="749808"/>
          </a:xfrm>
          <a:prstGeom prst="roundRect">
            <a:avLst>
              <a:gd name="adj" fmla="val 12195"/>
            </a:avLst>
          </a:prstGeom>
          <a:solidFill>
            <a:srgbClr val="FFFFFF"/>
          </a:solidFill>
          <a:ln/>
          <a:effectLst>
            <a:outerShdw sx="100000" sy="100000" kx="0" ky="0" algn="bl" rotWithShape="0" blurRad="101600" dist="38100" dir="2700000">
              <a:srgbClr val="000000">
                <a:alpha val="13000"/>
              </a:srgbClr>
            </a:outerShdw>
          </a:effectLst>
        </p:spPr>
      </p:sp>
      <p:sp>
        <p:nvSpPr>
          <p:cNvPr id="13" name="Text 11"/>
          <p:cNvSpPr/>
          <p:nvPr/>
        </p:nvSpPr>
        <p:spPr>
          <a:xfrm>
            <a:off x="502920" y="3913632"/>
            <a:ext cx="3931920" cy="256032"/>
          </a:xfrm>
          <a:prstGeom prst="rect">
            <a:avLst/>
          </a:prstGeom>
          <a:noFill/>
          <a:ln/>
        </p:spPr>
        <p:txBody>
          <a:bodyPr wrap="square" rtlCol="0" anchor="ctr"/>
          <a:lstStyle/>
          <a:p>
            <a:pPr indent="0" marL="0">
              <a:buNone/>
            </a:pPr>
            <a:r>
              <a:rPr lang="en-US" sz="1200" b="1" dirty="0">
                <a:solidFill>
                  <a:srgbClr val="1A6B2E"/>
                </a:solidFill>
                <a:latin typeface="Cambria" pitchFamily="34" charset="0"/>
                <a:ea typeface="Cambria" pitchFamily="34" charset="-122"/>
                <a:cs typeface="Cambria" pitchFamily="34" charset="-120"/>
              </a:rPr>
              <a:t>Inference</a:t>
            </a:r>
            <a:endParaRPr lang="en-US" sz="1200" dirty="0"/>
          </a:p>
        </p:txBody>
      </p:sp>
      <p:sp>
        <p:nvSpPr>
          <p:cNvPr id="14" name="Text 12"/>
          <p:cNvSpPr/>
          <p:nvPr/>
        </p:nvSpPr>
        <p:spPr>
          <a:xfrm>
            <a:off x="502920" y="4151376"/>
            <a:ext cx="3931920" cy="384048"/>
          </a:xfrm>
          <a:prstGeom prst="rect">
            <a:avLst/>
          </a:prstGeom>
          <a:noFill/>
          <a:ln/>
        </p:spPr>
        <p:txBody>
          <a:bodyPr wrap="square" rtlCol="0" anchor="ctr"/>
          <a:lstStyle/>
          <a:p>
            <a:pPr indent="0" marL="0">
              <a:lnSpc>
                <a:spcPct val="130000"/>
              </a:lnSpc>
              <a:buNone/>
            </a:pPr>
            <a:r>
              <a:rPr lang="en-US" sz="1050" dirty="0">
                <a:solidFill>
                  <a:srgbClr val="555555"/>
                </a:solidFill>
                <a:latin typeface="Calibri" pitchFamily="34" charset="0"/>
                <a:ea typeface="Calibri" pitchFamily="34" charset="-122"/>
                <a:cs typeface="Calibri" pitchFamily="34" charset="-120"/>
              </a:rPr>
              <a:t>TF.js WebGL backend (GPU)</a:t>
            </a:r>
            <a:endParaRPr lang="en-US" sz="1050" dirty="0"/>
          </a:p>
          <a:p>
            <a:pPr indent="0" marL="0">
              <a:lnSpc>
                <a:spcPct val="130000"/>
              </a:lnSpc>
              <a:buNone/>
            </a:pPr>
            <a:r>
              <a:rPr lang="en-US" sz="1050" dirty="0">
                <a:solidFill>
                  <a:srgbClr val="555555"/>
                </a:solidFill>
                <a:latin typeface="Calibri" pitchFamily="34" charset="0"/>
                <a:ea typeface="Calibri" pitchFamily="34" charset="-122"/>
                <a:cs typeface="Calibri" pitchFamily="34" charset="-120"/>
              </a:rPr>
              <a:t>WASM fallback for older devices</a:t>
            </a:r>
            <a:endParaRPr lang="en-US" sz="1050" dirty="0"/>
          </a:p>
        </p:txBody>
      </p:sp>
      <p:sp>
        <p:nvSpPr>
          <p:cNvPr id="15" name="Shape 13"/>
          <p:cNvSpPr/>
          <p:nvPr/>
        </p:nvSpPr>
        <p:spPr>
          <a:xfrm>
            <a:off x="4892040" y="1115568"/>
            <a:ext cx="3886200" cy="3657600"/>
          </a:xfrm>
          <a:prstGeom prst="roundRect">
            <a:avLst>
              <a:gd name="adj" fmla="val 4000"/>
            </a:avLst>
          </a:prstGeom>
          <a:solidFill>
            <a:srgbClr val="0D3D1A"/>
          </a:solidFill>
          <a:ln/>
        </p:spPr>
      </p:sp>
      <p:sp>
        <p:nvSpPr>
          <p:cNvPr id="16" name="Text 14"/>
          <p:cNvSpPr/>
          <p:nvPr/>
        </p:nvSpPr>
        <p:spPr>
          <a:xfrm>
            <a:off x="4892040" y="1188720"/>
            <a:ext cx="3886200" cy="384048"/>
          </a:xfrm>
          <a:prstGeom prst="rect">
            <a:avLst/>
          </a:prstGeom>
          <a:noFill/>
          <a:ln/>
        </p:spPr>
        <p:txBody>
          <a:bodyPr wrap="square" rtlCol="0" anchor="ctr"/>
          <a:lstStyle/>
          <a:p>
            <a:pPr algn="ctr" indent="0" marL="0">
              <a:buNone/>
            </a:pPr>
            <a:r>
              <a:rPr lang="en-US" sz="1400" b="1" dirty="0">
                <a:solidFill>
                  <a:srgbClr val="74C98A"/>
                </a:solidFill>
                <a:latin typeface="Cambria" pitchFamily="34" charset="0"/>
                <a:ea typeface="Cambria" pitchFamily="34" charset="-122"/>
                <a:cs typeface="Cambria" pitchFamily="34" charset="-120"/>
              </a:rPr>
              <a:t>Pipeline</a:t>
            </a:r>
            <a:endParaRPr lang="en-US" sz="1400" dirty="0"/>
          </a:p>
        </p:txBody>
      </p:sp>
      <p:sp>
        <p:nvSpPr>
          <p:cNvPr id="17" name="Shape 15"/>
          <p:cNvSpPr/>
          <p:nvPr/>
        </p:nvSpPr>
        <p:spPr>
          <a:xfrm>
            <a:off x="5074920" y="1627632"/>
            <a:ext cx="3520440" cy="347472"/>
          </a:xfrm>
          <a:prstGeom prst="roundRect">
            <a:avLst>
              <a:gd name="adj" fmla="val 21053"/>
            </a:avLst>
          </a:prstGeom>
          <a:solidFill>
            <a:srgbClr val="1A6B2E"/>
          </a:solidFill>
          <a:ln/>
        </p:spPr>
      </p:sp>
      <p:sp>
        <p:nvSpPr>
          <p:cNvPr id="18" name="Text 16"/>
          <p:cNvSpPr/>
          <p:nvPr/>
        </p:nvSpPr>
        <p:spPr>
          <a:xfrm>
            <a:off x="5074920" y="1627632"/>
            <a:ext cx="3520440" cy="347472"/>
          </a:xfrm>
          <a:prstGeom prst="rect">
            <a:avLst/>
          </a:prstGeom>
          <a:noFill/>
          <a:ln/>
        </p:spPr>
        <p:txBody>
          <a:bodyPr wrap="square" lIns="0" tIns="7620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Capture (224×224)</a:t>
            </a:r>
            <a:endParaRPr lang="en-US" sz="1050" dirty="0"/>
          </a:p>
        </p:txBody>
      </p:sp>
      <p:sp>
        <p:nvSpPr>
          <p:cNvPr id="19" name="Shape 17"/>
          <p:cNvSpPr/>
          <p:nvPr/>
        </p:nvSpPr>
        <p:spPr>
          <a:xfrm>
            <a:off x="5074920" y="2057400"/>
            <a:ext cx="3520440" cy="347472"/>
          </a:xfrm>
          <a:prstGeom prst="roundRect">
            <a:avLst>
              <a:gd name="adj" fmla="val 21053"/>
            </a:avLst>
          </a:prstGeom>
          <a:solidFill>
            <a:srgbClr val="1A6B2E">
              <a:alpha val="70000"/>
            </a:srgbClr>
          </a:solidFill>
          <a:ln/>
        </p:spPr>
      </p:sp>
      <p:sp>
        <p:nvSpPr>
          <p:cNvPr id="20" name="Text 18"/>
          <p:cNvSpPr/>
          <p:nvPr/>
        </p:nvSpPr>
        <p:spPr>
          <a:xfrm>
            <a:off x="5074920" y="2057400"/>
            <a:ext cx="3520440" cy="347472"/>
          </a:xfrm>
          <a:prstGeom prst="rect">
            <a:avLst/>
          </a:prstGeom>
          <a:noFill/>
          <a:ln/>
        </p:spPr>
        <p:txBody>
          <a:bodyPr wrap="square" lIns="0" tIns="7620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Brightness Normalize</a:t>
            </a:r>
            <a:endParaRPr lang="en-US" sz="1050" dirty="0"/>
          </a:p>
        </p:txBody>
      </p:sp>
      <p:sp>
        <p:nvSpPr>
          <p:cNvPr id="21" name="Shape 19"/>
          <p:cNvSpPr/>
          <p:nvPr/>
        </p:nvSpPr>
        <p:spPr>
          <a:xfrm>
            <a:off x="5074920" y="2487168"/>
            <a:ext cx="3520440" cy="347472"/>
          </a:xfrm>
          <a:prstGeom prst="roundRect">
            <a:avLst>
              <a:gd name="adj" fmla="val 21053"/>
            </a:avLst>
          </a:prstGeom>
          <a:solidFill>
            <a:srgbClr val="1A6B2E"/>
          </a:solidFill>
          <a:ln/>
        </p:spPr>
      </p:sp>
      <p:sp>
        <p:nvSpPr>
          <p:cNvPr id="22" name="Text 20"/>
          <p:cNvSpPr/>
          <p:nvPr/>
        </p:nvSpPr>
        <p:spPr>
          <a:xfrm>
            <a:off x="5074920" y="2487168"/>
            <a:ext cx="3520440" cy="347472"/>
          </a:xfrm>
          <a:prstGeom prst="rect">
            <a:avLst/>
          </a:prstGeom>
          <a:noFill/>
          <a:ln/>
        </p:spPr>
        <p:txBody>
          <a:bodyPr wrap="square" lIns="0" tIns="7620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MobileNetV2 Feature Extract</a:t>
            </a:r>
            <a:endParaRPr lang="en-US" sz="1050" dirty="0"/>
          </a:p>
        </p:txBody>
      </p:sp>
      <p:sp>
        <p:nvSpPr>
          <p:cNvPr id="23" name="Shape 21"/>
          <p:cNvSpPr/>
          <p:nvPr/>
        </p:nvSpPr>
        <p:spPr>
          <a:xfrm>
            <a:off x="5074920" y="2916936"/>
            <a:ext cx="3520440" cy="347472"/>
          </a:xfrm>
          <a:prstGeom prst="roundRect">
            <a:avLst>
              <a:gd name="adj" fmla="val 21053"/>
            </a:avLst>
          </a:prstGeom>
          <a:solidFill>
            <a:srgbClr val="1A6B2E">
              <a:alpha val="70000"/>
            </a:srgbClr>
          </a:solidFill>
          <a:ln/>
        </p:spPr>
      </p:sp>
      <p:sp>
        <p:nvSpPr>
          <p:cNvPr id="24" name="Text 22"/>
          <p:cNvSpPr/>
          <p:nvPr/>
        </p:nvSpPr>
        <p:spPr>
          <a:xfrm>
            <a:off x="5074920" y="2916936"/>
            <a:ext cx="3520440" cy="347472"/>
          </a:xfrm>
          <a:prstGeom prst="rect">
            <a:avLst/>
          </a:prstGeom>
          <a:noFill/>
          <a:ln/>
        </p:spPr>
        <p:txBody>
          <a:bodyPr wrap="square" lIns="0" tIns="7620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Dense(256) + Softmax(15)</a:t>
            </a:r>
            <a:endParaRPr lang="en-US" sz="1050" dirty="0"/>
          </a:p>
        </p:txBody>
      </p:sp>
      <p:sp>
        <p:nvSpPr>
          <p:cNvPr id="25" name="Shape 23"/>
          <p:cNvSpPr/>
          <p:nvPr/>
        </p:nvSpPr>
        <p:spPr>
          <a:xfrm>
            <a:off x="5074920" y="3346704"/>
            <a:ext cx="3520440" cy="347472"/>
          </a:xfrm>
          <a:prstGeom prst="roundRect">
            <a:avLst>
              <a:gd name="adj" fmla="val 21053"/>
            </a:avLst>
          </a:prstGeom>
          <a:solidFill>
            <a:srgbClr val="1A6B2E"/>
          </a:solidFill>
          <a:ln/>
        </p:spPr>
      </p:sp>
      <p:sp>
        <p:nvSpPr>
          <p:cNvPr id="26" name="Text 24"/>
          <p:cNvSpPr/>
          <p:nvPr/>
        </p:nvSpPr>
        <p:spPr>
          <a:xfrm>
            <a:off x="5074920" y="3346704"/>
            <a:ext cx="3520440" cy="347472"/>
          </a:xfrm>
          <a:prstGeom prst="rect">
            <a:avLst/>
          </a:prstGeom>
          <a:noFill/>
          <a:ln/>
        </p:spPr>
        <p:txBody>
          <a:bodyPr wrap="square" lIns="0" tIns="7620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Confidence + Disease Class</a:t>
            </a:r>
            <a:endParaRPr lang="en-US" sz="1050" dirty="0"/>
          </a:p>
        </p:txBody>
      </p:sp>
      <p:sp>
        <p:nvSpPr>
          <p:cNvPr id="27" name="Shape 25"/>
          <p:cNvSpPr/>
          <p:nvPr/>
        </p:nvSpPr>
        <p:spPr>
          <a:xfrm>
            <a:off x="5074920" y="3776472"/>
            <a:ext cx="3520440" cy="347472"/>
          </a:xfrm>
          <a:prstGeom prst="roundRect">
            <a:avLst>
              <a:gd name="adj" fmla="val 21053"/>
            </a:avLst>
          </a:prstGeom>
          <a:solidFill>
            <a:srgbClr val="1A6B2E">
              <a:alpha val="70000"/>
            </a:srgbClr>
          </a:solidFill>
          <a:ln/>
        </p:spPr>
      </p:sp>
      <p:sp>
        <p:nvSpPr>
          <p:cNvPr id="28" name="Text 26"/>
          <p:cNvSpPr/>
          <p:nvPr/>
        </p:nvSpPr>
        <p:spPr>
          <a:xfrm>
            <a:off x="5074920" y="3776472"/>
            <a:ext cx="3520440" cy="347472"/>
          </a:xfrm>
          <a:prstGeom prst="rect">
            <a:avLst/>
          </a:prstGeom>
          <a:noFill/>
          <a:ln/>
        </p:spPr>
        <p:txBody>
          <a:bodyPr wrap="square" lIns="0" tIns="7620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ICAR Treatment Lookup</a:t>
            </a:r>
            <a:endParaRPr lang="en-US" sz="1050" dirty="0"/>
          </a:p>
        </p:txBody>
      </p:sp>
      <p:sp>
        <p:nvSpPr>
          <p:cNvPr id="29" name="Shape 27"/>
          <p:cNvSpPr/>
          <p:nvPr/>
        </p:nvSpPr>
        <p:spPr>
          <a:xfrm>
            <a:off x="5074920" y="4206240"/>
            <a:ext cx="3520440" cy="347472"/>
          </a:xfrm>
          <a:prstGeom prst="roundRect">
            <a:avLst>
              <a:gd name="adj" fmla="val 21053"/>
            </a:avLst>
          </a:prstGeom>
          <a:solidFill>
            <a:srgbClr val="1A6B2E"/>
          </a:solidFill>
          <a:ln/>
        </p:spPr>
      </p:sp>
      <p:sp>
        <p:nvSpPr>
          <p:cNvPr id="30" name="Text 28"/>
          <p:cNvSpPr/>
          <p:nvPr/>
        </p:nvSpPr>
        <p:spPr>
          <a:xfrm>
            <a:off x="5074920" y="4206240"/>
            <a:ext cx="3520440" cy="347472"/>
          </a:xfrm>
          <a:prstGeom prst="rect">
            <a:avLst/>
          </a:prstGeom>
          <a:noFill/>
          <a:ln/>
        </p:spPr>
        <p:txBody>
          <a:bodyPr wrap="square" lIns="0" tIns="7620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Hindi Voice Output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200" b="1" dirty="0">
                <a:solidFill>
                  <a:srgbClr val="0D3D1A"/>
                </a:solidFill>
                <a:latin typeface="Cambria" pitchFamily="34" charset="0"/>
                <a:ea typeface="Cambria" pitchFamily="34" charset="-122"/>
                <a:cs typeface="Cambria" pitchFamily="34" charset="-120"/>
              </a:rPr>
              <a:t>Technology Stack</a:t>
            </a:r>
            <a:endParaRPr lang="en-US" sz="3200" dirty="0"/>
          </a:p>
        </p:txBody>
      </p:sp>
      <p:sp>
        <p:nvSpPr>
          <p:cNvPr id="3" name="Shape 1"/>
          <p:cNvSpPr/>
          <p:nvPr/>
        </p:nvSpPr>
        <p:spPr>
          <a:xfrm>
            <a:off x="365760" y="1115568"/>
            <a:ext cx="4160520" cy="1828800"/>
          </a:xfrm>
          <a:prstGeom prst="roundRect">
            <a:avLst>
              <a:gd name="adj" fmla="val 7000"/>
            </a:avLst>
          </a:prstGeom>
          <a:solidFill>
            <a:srgbClr val="FFFFFF"/>
          </a:solidFill>
          <a:ln/>
          <a:effectLst>
            <a:outerShdw sx="100000" sy="100000" kx="0" ky="0" algn="bl" rotWithShape="0" blurRad="101600" dist="38100" dir="2700000">
              <a:srgbClr val="000000">
                <a:alpha val="13000"/>
              </a:srgbClr>
            </a:outerShdw>
          </a:effectLst>
        </p:spPr>
      </p:sp>
      <p:sp>
        <p:nvSpPr>
          <p:cNvPr id="4" name="Shape 2"/>
          <p:cNvSpPr/>
          <p:nvPr/>
        </p:nvSpPr>
        <p:spPr>
          <a:xfrm>
            <a:off x="365760" y="1115568"/>
            <a:ext cx="4160520" cy="475488"/>
          </a:xfrm>
          <a:prstGeom prst="roundRect">
            <a:avLst>
              <a:gd name="adj" fmla="val 26923"/>
            </a:avLst>
          </a:prstGeom>
          <a:solidFill>
            <a:srgbClr val="0D3D1A"/>
          </a:solidFill>
          <a:ln/>
        </p:spPr>
      </p:sp>
      <p:sp>
        <p:nvSpPr>
          <p:cNvPr id="5" name="Shape 3"/>
          <p:cNvSpPr/>
          <p:nvPr/>
        </p:nvSpPr>
        <p:spPr>
          <a:xfrm>
            <a:off x="365760" y="1389888"/>
            <a:ext cx="4160520" cy="201168"/>
          </a:xfrm>
          <a:prstGeom prst="rect">
            <a:avLst/>
          </a:prstGeom>
          <a:solidFill>
            <a:srgbClr val="0D3D1A"/>
          </a:solidFill>
          <a:ln/>
        </p:spPr>
      </p:sp>
      <p:sp>
        <p:nvSpPr>
          <p:cNvPr id="6" name="Text 4"/>
          <p:cNvSpPr/>
          <p:nvPr/>
        </p:nvSpPr>
        <p:spPr>
          <a:xfrm>
            <a:off x="475488" y="1197864"/>
            <a:ext cx="3931920" cy="329184"/>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  AI / Machine Learning</a:t>
            </a:r>
            <a:endParaRPr lang="en-US" sz="1250" dirty="0"/>
          </a:p>
        </p:txBody>
      </p:sp>
      <p:sp>
        <p:nvSpPr>
          <p:cNvPr id="7" name="Text 5"/>
          <p:cNvSpPr/>
          <p:nvPr/>
        </p:nvSpPr>
        <p:spPr>
          <a:xfrm>
            <a:off x="548640" y="1682496"/>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TensorFlow.js 4.17</a:t>
            </a:r>
            <a:endParaRPr lang="en-US" sz="1100" dirty="0"/>
          </a:p>
        </p:txBody>
      </p:sp>
      <p:sp>
        <p:nvSpPr>
          <p:cNvPr id="8" name="Text 6"/>
          <p:cNvSpPr/>
          <p:nvPr/>
        </p:nvSpPr>
        <p:spPr>
          <a:xfrm>
            <a:off x="548640" y="1984248"/>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MobileNetV2 (Keras)</a:t>
            </a:r>
            <a:endParaRPr lang="en-US" sz="1100" dirty="0"/>
          </a:p>
        </p:txBody>
      </p:sp>
      <p:sp>
        <p:nvSpPr>
          <p:cNvPr id="9" name="Text 7"/>
          <p:cNvSpPr/>
          <p:nvPr/>
        </p:nvSpPr>
        <p:spPr>
          <a:xfrm>
            <a:off x="548640" y="2286000"/>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tensorflowjs_converter</a:t>
            </a:r>
            <a:endParaRPr lang="en-US" sz="1100" dirty="0"/>
          </a:p>
        </p:txBody>
      </p:sp>
      <p:sp>
        <p:nvSpPr>
          <p:cNvPr id="10" name="Text 8"/>
          <p:cNvSpPr/>
          <p:nvPr/>
        </p:nvSpPr>
        <p:spPr>
          <a:xfrm>
            <a:off x="548640" y="2587752"/>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WebGL + WASM backends</a:t>
            </a:r>
            <a:endParaRPr lang="en-US" sz="1100" dirty="0"/>
          </a:p>
        </p:txBody>
      </p:sp>
      <p:sp>
        <p:nvSpPr>
          <p:cNvPr id="11" name="Shape 9"/>
          <p:cNvSpPr/>
          <p:nvPr/>
        </p:nvSpPr>
        <p:spPr>
          <a:xfrm>
            <a:off x="4800600" y="1115568"/>
            <a:ext cx="4160520" cy="1828800"/>
          </a:xfrm>
          <a:prstGeom prst="roundRect">
            <a:avLst>
              <a:gd name="adj" fmla="val 7000"/>
            </a:avLst>
          </a:prstGeom>
          <a:solidFill>
            <a:srgbClr val="FFFFFF"/>
          </a:solidFill>
          <a:ln/>
          <a:effectLst>
            <a:outerShdw sx="100000" sy="100000" kx="0" ky="0" algn="bl" rotWithShape="0" blurRad="101600" dist="38100" dir="2700000">
              <a:srgbClr val="000000">
                <a:alpha val="13000"/>
              </a:srgbClr>
            </a:outerShdw>
          </a:effectLst>
        </p:spPr>
      </p:sp>
      <p:sp>
        <p:nvSpPr>
          <p:cNvPr id="12" name="Shape 10"/>
          <p:cNvSpPr/>
          <p:nvPr/>
        </p:nvSpPr>
        <p:spPr>
          <a:xfrm>
            <a:off x="4800600" y="1115568"/>
            <a:ext cx="4160520" cy="475488"/>
          </a:xfrm>
          <a:prstGeom prst="roundRect">
            <a:avLst>
              <a:gd name="adj" fmla="val 26923"/>
            </a:avLst>
          </a:prstGeom>
          <a:solidFill>
            <a:srgbClr val="1A6B2E"/>
          </a:solidFill>
          <a:ln/>
        </p:spPr>
      </p:sp>
      <p:sp>
        <p:nvSpPr>
          <p:cNvPr id="13" name="Shape 11"/>
          <p:cNvSpPr/>
          <p:nvPr/>
        </p:nvSpPr>
        <p:spPr>
          <a:xfrm>
            <a:off x="4800600" y="1389888"/>
            <a:ext cx="4160520" cy="201168"/>
          </a:xfrm>
          <a:prstGeom prst="rect">
            <a:avLst/>
          </a:prstGeom>
          <a:solidFill>
            <a:srgbClr val="1A6B2E"/>
          </a:solidFill>
          <a:ln/>
        </p:spPr>
      </p:sp>
      <p:sp>
        <p:nvSpPr>
          <p:cNvPr id="14" name="Text 12"/>
          <p:cNvSpPr/>
          <p:nvPr/>
        </p:nvSpPr>
        <p:spPr>
          <a:xfrm>
            <a:off x="4910328" y="1197864"/>
            <a:ext cx="3931920" cy="329184"/>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  Frontend PWA</a:t>
            </a:r>
            <a:endParaRPr lang="en-US" sz="1250" dirty="0"/>
          </a:p>
        </p:txBody>
      </p:sp>
      <p:sp>
        <p:nvSpPr>
          <p:cNvPr id="15" name="Text 13"/>
          <p:cNvSpPr/>
          <p:nvPr/>
        </p:nvSpPr>
        <p:spPr>
          <a:xfrm>
            <a:off x="4983480" y="1682496"/>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React.js 18 + Vite</a:t>
            </a:r>
            <a:endParaRPr lang="en-US" sz="1100" dirty="0"/>
          </a:p>
        </p:txBody>
      </p:sp>
      <p:sp>
        <p:nvSpPr>
          <p:cNvPr id="16" name="Text 14"/>
          <p:cNvSpPr/>
          <p:nvPr/>
        </p:nvSpPr>
        <p:spPr>
          <a:xfrm>
            <a:off x="4983480" y="1984248"/>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Tailwind CSS 3</a:t>
            </a:r>
            <a:endParaRPr lang="en-US" sz="1100" dirty="0"/>
          </a:p>
        </p:txBody>
      </p:sp>
      <p:sp>
        <p:nvSpPr>
          <p:cNvPr id="17" name="Text 15"/>
          <p:cNvSpPr/>
          <p:nvPr/>
        </p:nvSpPr>
        <p:spPr>
          <a:xfrm>
            <a:off x="4983480" y="2286000"/>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Workbox Service Worker</a:t>
            </a:r>
            <a:endParaRPr lang="en-US" sz="1100" dirty="0"/>
          </a:p>
        </p:txBody>
      </p:sp>
      <p:sp>
        <p:nvSpPr>
          <p:cNvPr id="18" name="Text 16"/>
          <p:cNvSpPr/>
          <p:nvPr/>
        </p:nvSpPr>
        <p:spPr>
          <a:xfrm>
            <a:off x="4983480" y="2587752"/>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Web Speech API (Hindi)</a:t>
            </a:r>
            <a:endParaRPr lang="en-US" sz="1100" dirty="0"/>
          </a:p>
        </p:txBody>
      </p:sp>
      <p:sp>
        <p:nvSpPr>
          <p:cNvPr id="19" name="Shape 17"/>
          <p:cNvSpPr/>
          <p:nvPr/>
        </p:nvSpPr>
        <p:spPr>
          <a:xfrm>
            <a:off x="365760" y="3127248"/>
            <a:ext cx="4160520" cy="1828800"/>
          </a:xfrm>
          <a:prstGeom prst="roundRect">
            <a:avLst>
              <a:gd name="adj" fmla="val 7000"/>
            </a:avLst>
          </a:prstGeom>
          <a:solidFill>
            <a:srgbClr val="FFFFFF"/>
          </a:solidFill>
          <a:ln/>
          <a:effectLst>
            <a:outerShdw sx="100000" sy="100000" kx="0" ky="0" algn="bl" rotWithShape="0" blurRad="101600" dist="38100" dir="2700000">
              <a:srgbClr val="000000">
                <a:alpha val="13000"/>
              </a:srgbClr>
            </a:outerShdw>
          </a:effectLst>
        </p:spPr>
      </p:sp>
      <p:sp>
        <p:nvSpPr>
          <p:cNvPr id="20" name="Shape 18"/>
          <p:cNvSpPr/>
          <p:nvPr/>
        </p:nvSpPr>
        <p:spPr>
          <a:xfrm>
            <a:off x="365760" y="3127248"/>
            <a:ext cx="4160520" cy="475488"/>
          </a:xfrm>
          <a:prstGeom prst="roundRect">
            <a:avLst>
              <a:gd name="adj" fmla="val 26923"/>
            </a:avLst>
          </a:prstGeom>
          <a:solidFill>
            <a:srgbClr val="5C3B1E"/>
          </a:solidFill>
          <a:ln/>
        </p:spPr>
      </p:sp>
      <p:sp>
        <p:nvSpPr>
          <p:cNvPr id="21" name="Shape 19"/>
          <p:cNvSpPr/>
          <p:nvPr/>
        </p:nvSpPr>
        <p:spPr>
          <a:xfrm>
            <a:off x="365760" y="3401568"/>
            <a:ext cx="4160520" cy="201168"/>
          </a:xfrm>
          <a:prstGeom prst="rect">
            <a:avLst/>
          </a:prstGeom>
          <a:solidFill>
            <a:srgbClr val="5C3B1E"/>
          </a:solidFill>
          <a:ln/>
        </p:spPr>
      </p:sp>
      <p:sp>
        <p:nvSpPr>
          <p:cNvPr id="22" name="Text 20"/>
          <p:cNvSpPr/>
          <p:nvPr/>
        </p:nvSpPr>
        <p:spPr>
          <a:xfrm>
            <a:off x="475488" y="3209544"/>
            <a:ext cx="3931920" cy="329184"/>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  Data &amp; Protocols</a:t>
            </a:r>
            <a:endParaRPr lang="en-US" sz="1250" dirty="0"/>
          </a:p>
        </p:txBody>
      </p:sp>
      <p:sp>
        <p:nvSpPr>
          <p:cNvPr id="23" name="Text 21"/>
          <p:cNvSpPr/>
          <p:nvPr/>
        </p:nvSpPr>
        <p:spPr>
          <a:xfrm>
            <a:off x="548640" y="3694176"/>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PlantVillage (54K imgs)</a:t>
            </a:r>
            <a:endParaRPr lang="en-US" sz="1100" dirty="0"/>
          </a:p>
        </p:txBody>
      </p:sp>
      <p:sp>
        <p:nvSpPr>
          <p:cNvPr id="24" name="Text 22"/>
          <p:cNvSpPr/>
          <p:nvPr/>
        </p:nvSpPr>
        <p:spPr>
          <a:xfrm>
            <a:off x="548640" y="3995928"/>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Rice &amp; Wheat (Kaggle)</a:t>
            </a:r>
            <a:endParaRPr lang="en-US" sz="1100" dirty="0"/>
          </a:p>
        </p:txBody>
      </p:sp>
      <p:sp>
        <p:nvSpPr>
          <p:cNvPr id="25" name="Text 23"/>
          <p:cNvSpPr/>
          <p:nvPr/>
        </p:nvSpPr>
        <p:spPr>
          <a:xfrm>
            <a:off x="548640" y="4297680"/>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300+ field photos</a:t>
            </a:r>
            <a:endParaRPr lang="en-US" sz="1100" dirty="0"/>
          </a:p>
        </p:txBody>
      </p:sp>
      <p:sp>
        <p:nvSpPr>
          <p:cNvPr id="26" name="Text 24"/>
          <p:cNvSpPr/>
          <p:nvPr/>
        </p:nvSpPr>
        <p:spPr>
          <a:xfrm>
            <a:off x="548640" y="4599432"/>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ICAR validated JSON DB</a:t>
            </a:r>
            <a:endParaRPr lang="en-US" sz="1100" dirty="0"/>
          </a:p>
        </p:txBody>
      </p:sp>
      <p:sp>
        <p:nvSpPr>
          <p:cNvPr id="27" name="Shape 25"/>
          <p:cNvSpPr/>
          <p:nvPr/>
        </p:nvSpPr>
        <p:spPr>
          <a:xfrm>
            <a:off x="4800600" y="3127248"/>
            <a:ext cx="4160520" cy="1828800"/>
          </a:xfrm>
          <a:prstGeom prst="roundRect">
            <a:avLst>
              <a:gd name="adj" fmla="val 7000"/>
            </a:avLst>
          </a:prstGeom>
          <a:solidFill>
            <a:srgbClr val="FFFFFF"/>
          </a:solidFill>
          <a:ln/>
          <a:effectLst>
            <a:outerShdw sx="100000" sy="100000" kx="0" ky="0" algn="bl" rotWithShape="0" blurRad="101600" dist="38100" dir="2700000">
              <a:srgbClr val="000000">
                <a:alpha val="13000"/>
              </a:srgbClr>
            </a:outerShdw>
          </a:effectLst>
        </p:spPr>
      </p:sp>
      <p:sp>
        <p:nvSpPr>
          <p:cNvPr id="28" name="Shape 26"/>
          <p:cNvSpPr/>
          <p:nvPr/>
        </p:nvSpPr>
        <p:spPr>
          <a:xfrm>
            <a:off x="4800600" y="3127248"/>
            <a:ext cx="4160520" cy="475488"/>
          </a:xfrm>
          <a:prstGeom prst="roundRect">
            <a:avLst>
              <a:gd name="adj" fmla="val 26923"/>
            </a:avLst>
          </a:prstGeom>
          <a:solidFill>
            <a:srgbClr val="E8A222"/>
          </a:solidFill>
          <a:ln/>
        </p:spPr>
      </p:sp>
      <p:sp>
        <p:nvSpPr>
          <p:cNvPr id="29" name="Shape 27"/>
          <p:cNvSpPr/>
          <p:nvPr/>
        </p:nvSpPr>
        <p:spPr>
          <a:xfrm>
            <a:off x="4800600" y="3401568"/>
            <a:ext cx="4160520" cy="201168"/>
          </a:xfrm>
          <a:prstGeom prst="rect">
            <a:avLst/>
          </a:prstGeom>
          <a:solidFill>
            <a:srgbClr val="E8A222"/>
          </a:solidFill>
          <a:ln/>
        </p:spPr>
      </p:sp>
      <p:sp>
        <p:nvSpPr>
          <p:cNvPr id="30" name="Text 28"/>
          <p:cNvSpPr/>
          <p:nvPr/>
        </p:nvSpPr>
        <p:spPr>
          <a:xfrm>
            <a:off x="4910328" y="3209544"/>
            <a:ext cx="3931920" cy="329184"/>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  DevOps &amp; Hosting</a:t>
            </a:r>
            <a:endParaRPr lang="en-US" sz="1250" dirty="0"/>
          </a:p>
        </p:txBody>
      </p:sp>
      <p:sp>
        <p:nvSpPr>
          <p:cNvPr id="31" name="Text 29"/>
          <p:cNvSpPr/>
          <p:nvPr/>
        </p:nvSpPr>
        <p:spPr>
          <a:xfrm>
            <a:off x="4983480" y="3694176"/>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Firebase Hosting (CDN)</a:t>
            </a:r>
            <a:endParaRPr lang="en-US" sz="1100" dirty="0"/>
          </a:p>
        </p:txBody>
      </p:sp>
      <p:sp>
        <p:nvSpPr>
          <p:cNvPr id="32" name="Text 30"/>
          <p:cNvSpPr/>
          <p:nvPr/>
        </p:nvSpPr>
        <p:spPr>
          <a:xfrm>
            <a:off x="4983480" y="3995928"/>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GitHub Actions CI/CD</a:t>
            </a:r>
            <a:endParaRPr lang="en-US" sz="1100" dirty="0"/>
          </a:p>
        </p:txBody>
      </p:sp>
      <p:sp>
        <p:nvSpPr>
          <p:cNvPr id="33" name="Text 31"/>
          <p:cNvSpPr/>
          <p:nvPr/>
        </p:nvSpPr>
        <p:spPr>
          <a:xfrm>
            <a:off x="4983480" y="4297680"/>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Progressive Web App</a:t>
            </a:r>
            <a:endParaRPr lang="en-US" sz="1100" dirty="0"/>
          </a:p>
        </p:txBody>
      </p:sp>
      <p:sp>
        <p:nvSpPr>
          <p:cNvPr id="34" name="Text 32"/>
          <p:cNvSpPr/>
          <p:nvPr/>
        </p:nvSpPr>
        <p:spPr>
          <a:xfrm>
            <a:off x="4983480" y="4599432"/>
            <a:ext cx="3840480" cy="27432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  HTTPS + COEP/COOP</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3D1A"/>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Data &amp; Training Pipeline</a:t>
            </a:r>
            <a:endParaRPr lang="en-US" sz="3200" dirty="0"/>
          </a:p>
        </p:txBody>
      </p:sp>
      <p:sp>
        <p:nvSpPr>
          <p:cNvPr id="3" name="Text 1"/>
          <p:cNvSpPr/>
          <p:nvPr/>
        </p:nvSpPr>
        <p:spPr>
          <a:xfrm>
            <a:off x="457200" y="804672"/>
            <a:ext cx="8229600" cy="329184"/>
          </a:xfrm>
          <a:prstGeom prst="rect">
            <a:avLst/>
          </a:prstGeom>
          <a:noFill/>
          <a:ln/>
        </p:spPr>
        <p:txBody>
          <a:bodyPr wrap="square" rtlCol="0" anchor="ctr"/>
          <a:lstStyle/>
          <a:p>
            <a:pPr indent="0" marL="0">
              <a:buNone/>
            </a:pPr>
            <a:r>
              <a:rPr lang="en-US" sz="1200" i="1" dirty="0">
                <a:solidFill>
                  <a:srgbClr val="74C98A"/>
                </a:solidFill>
                <a:latin typeface="Calibri" pitchFamily="34" charset="0"/>
                <a:ea typeface="Calibri" pitchFamily="34" charset="-122"/>
                <a:cs typeface="Calibri" pitchFamily="34" charset="-120"/>
              </a:rPr>
              <a:t>Dataset Composition — 59,717 Base Images → ~300K Augmented</a:t>
            </a:r>
            <a:endParaRPr lang="en-US" sz="1200" dirty="0"/>
          </a:p>
        </p:txBody>
      </p:sp>
      <p:sp>
        <p:nvSpPr>
          <p:cNvPr id="4" name="Text 2"/>
          <p:cNvSpPr/>
          <p:nvPr/>
        </p:nvSpPr>
        <p:spPr>
          <a:xfrm>
            <a:off x="365760" y="1298448"/>
            <a:ext cx="2377440" cy="329184"/>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PlantVillage</a:t>
            </a:r>
            <a:endParaRPr lang="en-US" sz="1100" dirty="0"/>
          </a:p>
        </p:txBody>
      </p:sp>
      <p:sp>
        <p:nvSpPr>
          <p:cNvPr id="5" name="Shape 3"/>
          <p:cNvSpPr/>
          <p:nvPr/>
        </p:nvSpPr>
        <p:spPr>
          <a:xfrm>
            <a:off x="2834640" y="1353312"/>
            <a:ext cx="4754880" cy="256032"/>
          </a:xfrm>
          <a:prstGeom prst="roundRect">
            <a:avLst>
              <a:gd name="adj" fmla="val 21429"/>
            </a:avLst>
          </a:prstGeom>
          <a:solidFill>
            <a:srgbClr val="1A4A2A"/>
          </a:solidFill>
          <a:ln/>
        </p:spPr>
      </p:sp>
      <p:sp>
        <p:nvSpPr>
          <p:cNvPr id="6" name="Shape 4"/>
          <p:cNvSpPr/>
          <p:nvPr/>
        </p:nvSpPr>
        <p:spPr>
          <a:xfrm>
            <a:off x="2834640" y="1353312"/>
            <a:ext cx="4326941" cy="256032"/>
          </a:xfrm>
          <a:prstGeom prst="roundRect">
            <a:avLst>
              <a:gd name="adj" fmla="val 21429"/>
            </a:avLst>
          </a:prstGeom>
          <a:solidFill>
            <a:srgbClr val="74C98A"/>
          </a:solidFill>
          <a:ln/>
        </p:spPr>
      </p:sp>
      <p:sp>
        <p:nvSpPr>
          <p:cNvPr id="7" name="Text 5"/>
          <p:cNvSpPr/>
          <p:nvPr/>
        </p:nvSpPr>
        <p:spPr>
          <a:xfrm>
            <a:off x="7253021" y="1298448"/>
            <a:ext cx="1371600" cy="329184"/>
          </a:xfrm>
          <a:prstGeom prst="rect">
            <a:avLst/>
          </a:prstGeom>
          <a:noFill/>
          <a:ln/>
        </p:spPr>
        <p:txBody>
          <a:bodyPr wrap="square" rtlCol="0" anchor="ctr"/>
          <a:lstStyle/>
          <a:p>
            <a:pPr indent="0" marL="0">
              <a:buNone/>
            </a:pPr>
            <a:r>
              <a:rPr lang="en-US" sz="1050" dirty="0">
                <a:solidFill>
                  <a:srgbClr val="AAD0B5"/>
                </a:solidFill>
                <a:latin typeface="Calibri" pitchFamily="34" charset="0"/>
                <a:ea typeface="Calibri" pitchFamily="34" charset="-122"/>
                <a:cs typeface="Calibri" pitchFamily="34" charset="-120"/>
              </a:rPr>
              <a:t>54,305</a:t>
            </a:r>
            <a:endParaRPr lang="en-US" sz="1050" dirty="0"/>
          </a:p>
        </p:txBody>
      </p:sp>
      <p:sp>
        <p:nvSpPr>
          <p:cNvPr id="8" name="Text 6"/>
          <p:cNvSpPr/>
          <p:nvPr/>
        </p:nvSpPr>
        <p:spPr>
          <a:xfrm>
            <a:off x="365760" y="1956816"/>
            <a:ext cx="2377440" cy="329184"/>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Rice Leaf (Kaggle)</a:t>
            </a:r>
            <a:endParaRPr lang="en-US" sz="1100" dirty="0"/>
          </a:p>
        </p:txBody>
      </p:sp>
      <p:sp>
        <p:nvSpPr>
          <p:cNvPr id="9" name="Shape 7"/>
          <p:cNvSpPr/>
          <p:nvPr/>
        </p:nvSpPr>
        <p:spPr>
          <a:xfrm>
            <a:off x="2834640" y="2011680"/>
            <a:ext cx="4754880" cy="256032"/>
          </a:xfrm>
          <a:prstGeom prst="roundRect">
            <a:avLst>
              <a:gd name="adj" fmla="val 21429"/>
            </a:avLst>
          </a:prstGeom>
          <a:solidFill>
            <a:srgbClr val="1A4A2A"/>
          </a:solidFill>
          <a:ln/>
        </p:spPr>
      </p:sp>
      <p:sp>
        <p:nvSpPr>
          <p:cNvPr id="10" name="Shape 8"/>
          <p:cNvSpPr/>
          <p:nvPr/>
        </p:nvSpPr>
        <p:spPr>
          <a:xfrm>
            <a:off x="2834640" y="2011680"/>
            <a:ext cx="237744" cy="256032"/>
          </a:xfrm>
          <a:prstGeom prst="roundRect">
            <a:avLst>
              <a:gd name="adj" fmla="val 23077"/>
            </a:avLst>
          </a:prstGeom>
          <a:solidFill>
            <a:srgbClr val="2E9E4F"/>
          </a:solidFill>
          <a:ln/>
        </p:spPr>
      </p:sp>
      <p:sp>
        <p:nvSpPr>
          <p:cNvPr id="11" name="Text 9"/>
          <p:cNvSpPr/>
          <p:nvPr/>
        </p:nvSpPr>
        <p:spPr>
          <a:xfrm>
            <a:off x="3163824" y="1956816"/>
            <a:ext cx="1371600" cy="329184"/>
          </a:xfrm>
          <a:prstGeom prst="rect">
            <a:avLst/>
          </a:prstGeom>
          <a:noFill/>
          <a:ln/>
        </p:spPr>
        <p:txBody>
          <a:bodyPr wrap="square" rtlCol="0" anchor="ctr"/>
          <a:lstStyle/>
          <a:p>
            <a:pPr indent="0" marL="0">
              <a:buNone/>
            </a:pPr>
            <a:r>
              <a:rPr lang="en-US" sz="1050" dirty="0">
                <a:solidFill>
                  <a:srgbClr val="AAD0B5"/>
                </a:solidFill>
                <a:latin typeface="Calibri" pitchFamily="34" charset="0"/>
                <a:ea typeface="Calibri" pitchFamily="34" charset="-122"/>
                <a:cs typeface="Calibri" pitchFamily="34" charset="-120"/>
              </a:rPr>
              <a:t>3,000</a:t>
            </a:r>
            <a:endParaRPr lang="en-US" sz="1050" dirty="0"/>
          </a:p>
        </p:txBody>
      </p:sp>
      <p:sp>
        <p:nvSpPr>
          <p:cNvPr id="12" name="Text 10"/>
          <p:cNvSpPr/>
          <p:nvPr/>
        </p:nvSpPr>
        <p:spPr>
          <a:xfrm>
            <a:off x="365760" y="2615184"/>
            <a:ext cx="2377440" cy="329184"/>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Wheat Rust (Kaggle)</a:t>
            </a:r>
            <a:endParaRPr lang="en-US" sz="1100" dirty="0"/>
          </a:p>
        </p:txBody>
      </p:sp>
      <p:sp>
        <p:nvSpPr>
          <p:cNvPr id="13" name="Shape 11"/>
          <p:cNvSpPr/>
          <p:nvPr/>
        </p:nvSpPr>
        <p:spPr>
          <a:xfrm>
            <a:off x="2834640" y="2670048"/>
            <a:ext cx="4754880" cy="256032"/>
          </a:xfrm>
          <a:prstGeom prst="roundRect">
            <a:avLst>
              <a:gd name="adj" fmla="val 21429"/>
            </a:avLst>
          </a:prstGeom>
          <a:solidFill>
            <a:srgbClr val="1A4A2A"/>
          </a:solidFill>
          <a:ln/>
        </p:spPr>
      </p:sp>
      <p:sp>
        <p:nvSpPr>
          <p:cNvPr id="14" name="Shape 12"/>
          <p:cNvSpPr/>
          <p:nvPr/>
        </p:nvSpPr>
        <p:spPr>
          <a:xfrm>
            <a:off x="2834640" y="2670048"/>
            <a:ext cx="166421" cy="256032"/>
          </a:xfrm>
          <a:prstGeom prst="roundRect">
            <a:avLst>
              <a:gd name="adj" fmla="val 32967"/>
            </a:avLst>
          </a:prstGeom>
          <a:solidFill>
            <a:srgbClr val="E8A222"/>
          </a:solidFill>
          <a:ln/>
        </p:spPr>
      </p:sp>
      <p:sp>
        <p:nvSpPr>
          <p:cNvPr id="15" name="Text 13"/>
          <p:cNvSpPr/>
          <p:nvPr/>
        </p:nvSpPr>
        <p:spPr>
          <a:xfrm>
            <a:off x="3092501" y="2615184"/>
            <a:ext cx="1371600" cy="329184"/>
          </a:xfrm>
          <a:prstGeom prst="rect">
            <a:avLst/>
          </a:prstGeom>
          <a:noFill/>
          <a:ln/>
        </p:spPr>
        <p:txBody>
          <a:bodyPr wrap="square" rtlCol="0" anchor="ctr"/>
          <a:lstStyle/>
          <a:p>
            <a:pPr indent="0" marL="0">
              <a:buNone/>
            </a:pPr>
            <a:r>
              <a:rPr lang="en-US" sz="1050" dirty="0">
                <a:solidFill>
                  <a:srgbClr val="AAD0B5"/>
                </a:solidFill>
                <a:latin typeface="Calibri" pitchFamily="34" charset="0"/>
                <a:ea typeface="Calibri" pitchFamily="34" charset="-122"/>
                <a:cs typeface="Calibri" pitchFamily="34" charset="-120"/>
              </a:rPr>
              <a:t>2,100</a:t>
            </a:r>
            <a:endParaRPr lang="en-US" sz="1050" dirty="0"/>
          </a:p>
        </p:txBody>
      </p:sp>
      <p:sp>
        <p:nvSpPr>
          <p:cNvPr id="16" name="Text 14"/>
          <p:cNvSpPr/>
          <p:nvPr/>
        </p:nvSpPr>
        <p:spPr>
          <a:xfrm>
            <a:off x="365760" y="3273552"/>
            <a:ext cx="2377440" cy="329184"/>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Custom Field Photos</a:t>
            </a:r>
            <a:endParaRPr lang="en-US" sz="1100" dirty="0"/>
          </a:p>
        </p:txBody>
      </p:sp>
      <p:sp>
        <p:nvSpPr>
          <p:cNvPr id="17" name="Shape 15"/>
          <p:cNvSpPr/>
          <p:nvPr/>
        </p:nvSpPr>
        <p:spPr>
          <a:xfrm>
            <a:off x="2834640" y="3328416"/>
            <a:ext cx="4754880" cy="256032"/>
          </a:xfrm>
          <a:prstGeom prst="roundRect">
            <a:avLst>
              <a:gd name="adj" fmla="val 21429"/>
            </a:avLst>
          </a:prstGeom>
          <a:solidFill>
            <a:srgbClr val="1A4A2A"/>
          </a:solidFill>
          <a:ln/>
        </p:spPr>
      </p:sp>
      <p:sp>
        <p:nvSpPr>
          <p:cNvPr id="18" name="Shape 16"/>
          <p:cNvSpPr/>
          <p:nvPr/>
        </p:nvSpPr>
        <p:spPr>
          <a:xfrm>
            <a:off x="2834640" y="3328416"/>
            <a:ext cx="109728" cy="256032"/>
          </a:xfrm>
          <a:prstGeom prst="roundRect">
            <a:avLst>
              <a:gd name="adj" fmla="val 50000"/>
            </a:avLst>
          </a:prstGeom>
          <a:solidFill>
            <a:srgbClr val="F39C12"/>
          </a:solidFill>
          <a:ln/>
        </p:spPr>
      </p:sp>
      <p:sp>
        <p:nvSpPr>
          <p:cNvPr id="19" name="Text 17"/>
          <p:cNvSpPr/>
          <p:nvPr/>
        </p:nvSpPr>
        <p:spPr>
          <a:xfrm>
            <a:off x="3035808" y="3273552"/>
            <a:ext cx="1371600" cy="329184"/>
          </a:xfrm>
          <a:prstGeom prst="rect">
            <a:avLst/>
          </a:prstGeom>
          <a:noFill/>
          <a:ln/>
        </p:spPr>
        <p:txBody>
          <a:bodyPr wrap="square" rtlCol="0" anchor="ctr"/>
          <a:lstStyle/>
          <a:p>
            <a:pPr indent="0" marL="0">
              <a:buNone/>
            </a:pPr>
            <a:r>
              <a:rPr lang="en-US" sz="1050" dirty="0">
                <a:solidFill>
                  <a:srgbClr val="AAD0B5"/>
                </a:solidFill>
                <a:latin typeface="Calibri" pitchFamily="34" charset="0"/>
                <a:ea typeface="Calibri" pitchFamily="34" charset="-122"/>
                <a:cs typeface="Calibri" pitchFamily="34" charset="-120"/>
              </a:rPr>
              <a:t>312</a:t>
            </a:r>
            <a:endParaRPr lang="en-US" sz="1050" dirty="0"/>
          </a:p>
        </p:txBody>
      </p:sp>
      <p:sp>
        <p:nvSpPr>
          <p:cNvPr id="20" name="Shape 18"/>
          <p:cNvSpPr/>
          <p:nvPr/>
        </p:nvSpPr>
        <p:spPr>
          <a:xfrm>
            <a:off x="365760" y="3913632"/>
            <a:ext cx="8412480" cy="969264"/>
          </a:xfrm>
          <a:prstGeom prst="roundRect">
            <a:avLst>
              <a:gd name="adj" fmla="val 11321"/>
            </a:avLst>
          </a:prstGeom>
          <a:solidFill>
            <a:srgbClr val="1A6B2E">
              <a:alpha val="80000"/>
            </a:srgbClr>
          </a:solidFill>
          <a:ln/>
        </p:spPr>
      </p:sp>
      <p:sp>
        <p:nvSpPr>
          <p:cNvPr id="21" name="Text 19"/>
          <p:cNvSpPr/>
          <p:nvPr/>
        </p:nvSpPr>
        <p:spPr>
          <a:xfrm>
            <a:off x="548640" y="3959352"/>
            <a:ext cx="8046720" cy="292608"/>
          </a:xfrm>
          <a:prstGeom prst="rect">
            <a:avLst/>
          </a:prstGeom>
          <a:noFill/>
          <a:ln/>
        </p:spPr>
        <p:txBody>
          <a:bodyPr wrap="square" rtlCol="0" anchor="ctr"/>
          <a:lstStyle/>
          <a:p>
            <a:pPr indent="0" marL="0">
              <a:buNone/>
            </a:pPr>
            <a:r>
              <a:rPr lang="en-US" sz="1200" b="1" dirty="0">
                <a:solidFill>
                  <a:srgbClr val="74C98A"/>
                </a:solidFill>
                <a:latin typeface="Cambria" pitchFamily="34" charset="0"/>
                <a:ea typeface="Cambria" pitchFamily="34" charset="-122"/>
                <a:cs typeface="Cambria" pitchFamily="34" charset="-120"/>
              </a:rPr>
              <a:t>Field-Condition Augmentation  →  5× Dataset Multiplier</a:t>
            </a:r>
            <a:endParaRPr lang="en-US" sz="1200" dirty="0"/>
          </a:p>
        </p:txBody>
      </p:sp>
      <p:sp>
        <p:nvSpPr>
          <p:cNvPr id="22" name="Text 20"/>
          <p:cNvSpPr/>
          <p:nvPr/>
        </p:nvSpPr>
        <p:spPr>
          <a:xfrm>
            <a:off x="548640" y="4224528"/>
            <a:ext cx="8046720" cy="548640"/>
          </a:xfrm>
          <a:prstGeom prst="rect">
            <a:avLst/>
          </a:prstGeom>
          <a:noFill/>
          <a:ln/>
        </p:spPr>
        <p:txBody>
          <a:bodyPr wrap="square" rtlCol="0" anchor="ctr"/>
          <a:lstStyle/>
          <a:p>
            <a:pPr indent="0" marL="0">
              <a:lnSpc>
                <a:spcPct val="130000"/>
              </a:lnSpc>
              <a:buNone/>
            </a:pPr>
            <a:r>
              <a:rPr lang="en-US" sz="1100" dirty="0">
                <a:solidFill>
                  <a:srgbClr val="C8E6C9"/>
                </a:solidFill>
                <a:latin typeface="Calibri" pitchFamily="34" charset="0"/>
                <a:ea typeface="Calibri" pitchFamily="34" charset="-122"/>
                <a:cs typeface="Calibri" pitchFamily="34" charset="-120"/>
              </a:rPr>
              <a:t>Brightness ±35%   ·   Gaussian noise (σ=0.02)   ·   Motion blur (3–7px)   ·   Perspective transform ±10°   ·   Random flip &amp; rotation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200" b="1" dirty="0">
                <a:solidFill>
                  <a:srgbClr val="0D3D1A"/>
                </a:solidFill>
                <a:latin typeface="Cambria" pitchFamily="34" charset="0"/>
                <a:ea typeface="Cambria" pitchFamily="34" charset="-122"/>
                <a:cs typeface="Cambria" pitchFamily="34" charset="-120"/>
              </a:rPr>
              <a:t>Offline-First Architecture</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15568"/>
          <a:ext cx="5029200" cy="3291840"/>
        </p:xfrm>
        <a:graphic>
          <a:graphicData uri="http://schemas.openxmlformats.org/drawingml/2006/table">
            <a:tbl>
              <a:tblPr/>
              <a:tblGrid>
                <a:gridCol w="2560320"/>
                <a:gridCol w="1463040"/>
                <a:gridCol w="1005840"/>
              </a:tblGrid>
              <a:tr h="470263">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Asset</a:t>
                      </a:r>
                      <a:endParaRPr lang="en-US" sz="11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6B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Strategy</a:t>
                      </a:r>
                      <a:endParaRPr lang="en-US" sz="11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6B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Size</a:t>
                      </a:r>
                      <a:endParaRPr lang="en-US" sz="11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6B2E"/>
                    </a:solidFill>
                  </a:tcPr>
                </a:tc>
              </a:tr>
              <a:tr h="470263">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App Shell (HTML/CSS/JS)</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Cache First</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~45 KB</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70263">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TF.js Runtime</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Cache First</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~800 KB</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r>
              <a:tr h="470263">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Model Weights (.bin)</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Net First → Cache</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~4.2 MB</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70263">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ICAR Database (JSON)</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Cache Only</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~28 KB</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r>
              <a:tr h="470263">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User Photos</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Never Cached</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555555"/>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70263">
                <a:tc>
                  <a:txBody>
                    <a:bodyPr/>
                    <a:lstStyle/>
                    <a:p>
                      <a:pPr indent="0" marL="0">
                        <a:buNone/>
                      </a:pPr>
                      <a:r>
                        <a:rPr lang="en-US" sz="1050" b="1" dirty="0">
                          <a:solidFill>
                            <a:srgbClr val="2E9E4F"/>
                          </a:solidFill>
                          <a:latin typeface="Calibri" pitchFamily="34" charset="0"/>
                          <a:ea typeface="Calibri" pitchFamily="34" charset="-122"/>
                          <a:cs typeface="Calibri" pitchFamily="34" charset="-120"/>
                        </a:rPr>
                        <a:t>TOTAL footprint</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indent="0" marL="0">
                        <a:buNone/>
                      </a:pPr>
                      <a:r>
                        <a:rPr lang="en-US" sz="1050" dirty="0">
                          <a:solidFill>
                            <a:srgbClr val="2E9E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indent="0" marL="0">
                        <a:buNone/>
                      </a:pPr>
                      <a:r>
                        <a:rPr lang="en-US" sz="1050" dirty="0">
                          <a:solidFill>
                            <a:srgbClr val="2E9E4F"/>
                          </a:solidFill>
                          <a:latin typeface="Calibri" pitchFamily="34" charset="0"/>
                          <a:ea typeface="Calibri" pitchFamily="34" charset="-122"/>
                          <a:cs typeface="Calibri" pitchFamily="34" charset="-120"/>
                        </a:rPr>
                        <a:t>~5.1 MB</a:t>
                      </a:r>
                      <a:endParaRPr lang="en-US" sz="105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r>
            </a:tbl>
          </a:graphicData>
        </a:graphic>
      </p:graphicFrame>
      <p:sp>
        <p:nvSpPr>
          <p:cNvPr id="4" name="Shape 1"/>
          <p:cNvSpPr/>
          <p:nvPr/>
        </p:nvSpPr>
        <p:spPr>
          <a:xfrm>
            <a:off x="5577840" y="1143000"/>
            <a:ext cx="1572768" cy="1572768"/>
          </a:xfrm>
          <a:prstGeom prst="roundRect">
            <a:avLst>
              <a:gd name="adj" fmla="val 8140"/>
            </a:avLst>
          </a:prstGeom>
          <a:solidFill>
            <a:srgbClr val="FFFFFF"/>
          </a:solidFill>
          <a:ln/>
          <a:effectLst>
            <a:outerShdw sx="100000" sy="100000" kx="0" ky="0" algn="bl" rotWithShape="0" blurRad="101600" dist="38100" dir="2700000">
              <a:srgbClr val="000000">
                <a:alpha val="13000"/>
              </a:srgbClr>
            </a:outerShdw>
          </a:effectLst>
        </p:spPr>
      </p:sp>
      <p:sp>
        <p:nvSpPr>
          <p:cNvPr id="5" name="Text 2"/>
          <p:cNvSpPr/>
          <p:nvPr/>
        </p:nvSpPr>
        <p:spPr>
          <a:xfrm>
            <a:off x="5577840" y="1289304"/>
            <a:ext cx="1572768" cy="4572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6" name="Text 3"/>
          <p:cNvSpPr/>
          <p:nvPr/>
        </p:nvSpPr>
        <p:spPr>
          <a:xfrm>
            <a:off x="5577840" y="1746504"/>
            <a:ext cx="1572768" cy="274320"/>
          </a:xfrm>
          <a:prstGeom prst="rect">
            <a:avLst/>
          </a:prstGeom>
          <a:noFill/>
          <a:ln/>
        </p:spPr>
        <p:txBody>
          <a:bodyPr wrap="square" rtlCol="0" anchor="ctr"/>
          <a:lstStyle/>
          <a:p>
            <a:pPr algn="ctr" indent="0" marL="0">
              <a:buNone/>
            </a:pPr>
            <a:r>
              <a:rPr lang="en-US" sz="1100" b="1" dirty="0">
                <a:solidFill>
                  <a:srgbClr val="0D3D1A"/>
                </a:solidFill>
                <a:latin typeface="Cambria" pitchFamily="34" charset="0"/>
                <a:ea typeface="Cambria" pitchFamily="34" charset="-122"/>
                <a:cs typeface="Cambria" pitchFamily="34" charset="-120"/>
              </a:rPr>
              <a:t>Installable</a:t>
            </a:r>
            <a:endParaRPr lang="en-US" sz="1100" dirty="0"/>
          </a:p>
        </p:txBody>
      </p:sp>
      <p:sp>
        <p:nvSpPr>
          <p:cNvPr id="7" name="Text 4"/>
          <p:cNvSpPr/>
          <p:nvPr/>
        </p:nvSpPr>
        <p:spPr>
          <a:xfrm>
            <a:off x="5577840" y="2002536"/>
            <a:ext cx="1572768" cy="566928"/>
          </a:xfrm>
          <a:prstGeom prst="rect">
            <a:avLst/>
          </a:prstGeom>
          <a:noFill/>
          <a:ln/>
        </p:spPr>
        <p:txBody>
          <a:bodyPr wrap="square" rtlCol="0" anchor="ctr"/>
          <a:lstStyle/>
          <a:p>
            <a:pPr algn="ctr" indent="0" marL="0">
              <a:lnSpc>
                <a:spcPct val="125000"/>
              </a:lnSpc>
              <a:buNone/>
            </a:pPr>
            <a:r>
              <a:rPr lang="en-US" sz="950" dirty="0">
                <a:solidFill>
                  <a:srgbClr val="555555"/>
                </a:solidFill>
                <a:latin typeface="Calibri" pitchFamily="34" charset="0"/>
                <a:ea typeface="Calibri" pitchFamily="34" charset="-122"/>
                <a:cs typeface="Calibri" pitchFamily="34" charset="-120"/>
              </a:rPr>
              <a:t>Adds to home screen like</a:t>
            </a:r>
            <a:endParaRPr lang="en-US" sz="950" dirty="0"/>
          </a:p>
          <a:p>
            <a:pPr algn="ctr" indent="0" marL="0">
              <a:lnSpc>
                <a:spcPct val="125000"/>
              </a:lnSpc>
              <a:buNone/>
            </a:pPr>
            <a:r>
              <a:rPr lang="en-US" sz="950" dirty="0">
                <a:solidFill>
                  <a:srgbClr val="555555"/>
                </a:solidFill>
                <a:latin typeface="Calibri" pitchFamily="34" charset="0"/>
                <a:ea typeface="Calibri" pitchFamily="34" charset="-122"/>
                <a:cs typeface="Calibri" pitchFamily="34" charset="-120"/>
              </a:rPr>
              <a:t>a native app — no store</a:t>
            </a:r>
            <a:endParaRPr lang="en-US" sz="950" dirty="0"/>
          </a:p>
        </p:txBody>
      </p:sp>
      <p:sp>
        <p:nvSpPr>
          <p:cNvPr id="8" name="Shape 5"/>
          <p:cNvSpPr/>
          <p:nvPr/>
        </p:nvSpPr>
        <p:spPr>
          <a:xfrm>
            <a:off x="7269480" y="1143000"/>
            <a:ext cx="1572768" cy="1572768"/>
          </a:xfrm>
          <a:prstGeom prst="roundRect">
            <a:avLst>
              <a:gd name="adj" fmla="val 8140"/>
            </a:avLst>
          </a:prstGeom>
          <a:solidFill>
            <a:srgbClr val="FFFFFF"/>
          </a:solidFill>
          <a:ln/>
          <a:effectLst>
            <a:outerShdw sx="100000" sy="100000" kx="0" ky="0" algn="bl" rotWithShape="0" blurRad="101600" dist="38100" dir="2700000">
              <a:srgbClr val="000000">
                <a:alpha val="13000"/>
              </a:srgbClr>
            </a:outerShdw>
          </a:effectLst>
        </p:spPr>
      </p:sp>
      <p:sp>
        <p:nvSpPr>
          <p:cNvPr id="9" name="Text 6"/>
          <p:cNvSpPr/>
          <p:nvPr/>
        </p:nvSpPr>
        <p:spPr>
          <a:xfrm>
            <a:off x="7269480" y="1289304"/>
            <a:ext cx="1572768" cy="4572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0" name="Text 7"/>
          <p:cNvSpPr/>
          <p:nvPr/>
        </p:nvSpPr>
        <p:spPr>
          <a:xfrm>
            <a:off x="7269480" y="1746504"/>
            <a:ext cx="1572768" cy="274320"/>
          </a:xfrm>
          <a:prstGeom prst="rect">
            <a:avLst/>
          </a:prstGeom>
          <a:noFill/>
          <a:ln/>
        </p:spPr>
        <p:txBody>
          <a:bodyPr wrap="square" rtlCol="0" anchor="ctr"/>
          <a:lstStyle/>
          <a:p>
            <a:pPr algn="ctr" indent="0" marL="0">
              <a:buNone/>
            </a:pPr>
            <a:r>
              <a:rPr lang="en-US" sz="1100" b="1" dirty="0">
                <a:solidFill>
                  <a:srgbClr val="0D3D1A"/>
                </a:solidFill>
                <a:latin typeface="Cambria" pitchFamily="34" charset="0"/>
                <a:ea typeface="Cambria" pitchFamily="34" charset="-122"/>
                <a:cs typeface="Cambria" pitchFamily="34" charset="-120"/>
              </a:rPr>
              <a:t>Syncs Later</a:t>
            </a:r>
            <a:endParaRPr lang="en-US" sz="1100" dirty="0"/>
          </a:p>
        </p:txBody>
      </p:sp>
      <p:sp>
        <p:nvSpPr>
          <p:cNvPr id="11" name="Text 8"/>
          <p:cNvSpPr/>
          <p:nvPr/>
        </p:nvSpPr>
        <p:spPr>
          <a:xfrm>
            <a:off x="7269480" y="2002536"/>
            <a:ext cx="1572768" cy="566928"/>
          </a:xfrm>
          <a:prstGeom prst="rect">
            <a:avLst/>
          </a:prstGeom>
          <a:noFill/>
          <a:ln/>
        </p:spPr>
        <p:txBody>
          <a:bodyPr wrap="square" rtlCol="0" anchor="ctr"/>
          <a:lstStyle/>
          <a:p>
            <a:pPr algn="ctr" indent="0" marL="0">
              <a:lnSpc>
                <a:spcPct val="125000"/>
              </a:lnSpc>
              <a:buNone/>
            </a:pPr>
            <a:r>
              <a:rPr lang="en-US" sz="950" dirty="0">
                <a:solidFill>
                  <a:srgbClr val="555555"/>
                </a:solidFill>
                <a:latin typeface="Calibri" pitchFamily="34" charset="0"/>
                <a:ea typeface="Calibri" pitchFamily="34" charset="-122"/>
                <a:cs typeface="Calibri" pitchFamily="34" charset="-120"/>
              </a:rPr>
              <a:t>Anonymous diagnostics logged</a:t>
            </a:r>
            <a:endParaRPr lang="en-US" sz="950" dirty="0"/>
          </a:p>
          <a:p>
            <a:pPr algn="ctr" indent="0" marL="0">
              <a:lnSpc>
                <a:spcPct val="125000"/>
              </a:lnSpc>
              <a:buNone/>
            </a:pPr>
            <a:r>
              <a:rPr lang="en-US" sz="950" dirty="0">
                <a:solidFill>
                  <a:srgbClr val="555555"/>
                </a:solidFill>
                <a:latin typeface="Calibri" pitchFamily="34" charset="0"/>
                <a:ea typeface="Calibri" pitchFamily="34" charset="-122"/>
                <a:cs typeface="Calibri" pitchFamily="34" charset="-120"/>
              </a:rPr>
              <a:t>offline, synced when online</a:t>
            </a:r>
            <a:endParaRPr lang="en-US" sz="950" dirty="0"/>
          </a:p>
        </p:txBody>
      </p:sp>
      <p:sp>
        <p:nvSpPr>
          <p:cNvPr id="12" name="Shape 9"/>
          <p:cNvSpPr/>
          <p:nvPr/>
        </p:nvSpPr>
        <p:spPr>
          <a:xfrm>
            <a:off x="5577840" y="2898648"/>
            <a:ext cx="1572768" cy="1572768"/>
          </a:xfrm>
          <a:prstGeom prst="roundRect">
            <a:avLst>
              <a:gd name="adj" fmla="val 8140"/>
            </a:avLst>
          </a:prstGeom>
          <a:solidFill>
            <a:srgbClr val="FFFFFF"/>
          </a:solidFill>
          <a:ln/>
          <a:effectLst>
            <a:outerShdw sx="100000" sy="100000" kx="0" ky="0" algn="bl" rotWithShape="0" blurRad="101600" dist="38100" dir="2700000">
              <a:srgbClr val="000000">
                <a:alpha val="13000"/>
              </a:srgbClr>
            </a:outerShdw>
          </a:effectLst>
        </p:spPr>
      </p:sp>
      <p:sp>
        <p:nvSpPr>
          <p:cNvPr id="13" name="Text 10"/>
          <p:cNvSpPr/>
          <p:nvPr/>
        </p:nvSpPr>
        <p:spPr>
          <a:xfrm>
            <a:off x="5577840" y="3044952"/>
            <a:ext cx="1572768" cy="4572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4" name="Text 11"/>
          <p:cNvSpPr/>
          <p:nvPr/>
        </p:nvSpPr>
        <p:spPr>
          <a:xfrm>
            <a:off x="5577840" y="3502152"/>
            <a:ext cx="1572768" cy="274320"/>
          </a:xfrm>
          <a:prstGeom prst="rect">
            <a:avLst/>
          </a:prstGeom>
          <a:noFill/>
          <a:ln/>
        </p:spPr>
        <p:txBody>
          <a:bodyPr wrap="square" rtlCol="0" anchor="ctr"/>
          <a:lstStyle/>
          <a:p>
            <a:pPr algn="ctr" indent="0" marL="0">
              <a:buNone/>
            </a:pPr>
            <a:r>
              <a:rPr lang="en-US" sz="1100" b="1" dirty="0">
                <a:solidFill>
                  <a:srgbClr val="0D3D1A"/>
                </a:solidFill>
                <a:latin typeface="Cambria" pitchFamily="34" charset="0"/>
                <a:ea typeface="Cambria" pitchFamily="34" charset="-122"/>
                <a:cs typeface="Cambria" pitchFamily="34" charset="-120"/>
              </a:rPr>
              <a:t>Fast Boot</a:t>
            </a:r>
            <a:endParaRPr lang="en-US" sz="1100" dirty="0"/>
          </a:p>
        </p:txBody>
      </p:sp>
      <p:sp>
        <p:nvSpPr>
          <p:cNvPr id="15" name="Text 12"/>
          <p:cNvSpPr/>
          <p:nvPr/>
        </p:nvSpPr>
        <p:spPr>
          <a:xfrm>
            <a:off x="5577840" y="3758184"/>
            <a:ext cx="1572768" cy="566928"/>
          </a:xfrm>
          <a:prstGeom prst="rect">
            <a:avLst/>
          </a:prstGeom>
          <a:noFill/>
          <a:ln/>
        </p:spPr>
        <p:txBody>
          <a:bodyPr wrap="square" rtlCol="0" anchor="ctr"/>
          <a:lstStyle/>
          <a:p>
            <a:pPr algn="ctr" indent="0" marL="0">
              <a:lnSpc>
                <a:spcPct val="125000"/>
              </a:lnSpc>
              <a:buNone/>
            </a:pPr>
            <a:r>
              <a:rPr lang="en-US" sz="950" dirty="0">
                <a:solidFill>
                  <a:srgbClr val="555555"/>
                </a:solidFill>
                <a:latin typeface="Calibri" pitchFamily="34" charset="0"/>
                <a:ea typeface="Calibri" pitchFamily="34" charset="-122"/>
                <a:cs typeface="Calibri" pitchFamily="34" charset="-120"/>
              </a:rPr>
              <a:t>Serves from cache — &lt;1s</a:t>
            </a:r>
            <a:endParaRPr lang="en-US" sz="950" dirty="0"/>
          </a:p>
          <a:p>
            <a:pPr algn="ctr" indent="0" marL="0">
              <a:lnSpc>
                <a:spcPct val="125000"/>
              </a:lnSpc>
              <a:buNone/>
            </a:pPr>
            <a:r>
              <a:rPr lang="en-US" sz="950" dirty="0">
                <a:solidFill>
                  <a:srgbClr val="555555"/>
                </a:solidFill>
                <a:latin typeface="Calibri" pitchFamily="34" charset="0"/>
                <a:ea typeface="Calibri" pitchFamily="34" charset="-122"/>
                <a:cs typeface="Calibri" pitchFamily="34" charset="-120"/>
              </a:rPr>
              <a:t>first paint after install</a:t>
            </a:r>
            <a:endParaRPr lang="en-US" sz="950" dirty="0"/>
          </a:p>
        </p:txBody>
      </p:sp>
      <p:sp>
        <p:nvSpPr>
          <p:cNvPr id="16" name="Shape 13"/>
          <p:cNvSpPr/>
          <p:nvPr/>
        </p:nvSpPr>
        <p:spPr>
          <a:xfrm>
            <a:off x="7269480" y="2898648"/>
            <a:ext cx="1572768" cy="1572768"/>
          </a:xfrm>
          <a:prstGeom prst="roundRect">
            <a:avLst>
              <a:gd name="adj" fmla="val 8140"/>
            </a:avLst>
          </a:prstGeom>
          <a:solidFill>
            <a:srgbClr val="FFFFFF"/>
          </a:solidFill>
          <a:ln/>
          <a:effectLst>
            <a:outerShdw sx="100000" sy="100000" kx="0" ky="0" algn="bl" rotWithShape="0" blurRad="101600" dist="38100" dir="2700000">
              <a:srgbClr val="000000">
                <a:alpha val="13000"/>
              </a:srgbClr>
            </a:outerShdw>
          </a:effectLst>
        </p:spPr>
      </p:sp>
      <p:sp>
        <p:nvSpPr>
          <p:cNvPr id="17" name="Text 14"/>
          <p:cNvSpPr/>
          <p:nvPr/>
        </p:nvSpPr>
        <p:spPr>
          <a:xfrm>
            <a:off x="7269480" y="3044952"/>
            <a:ext cx="1572768" cy="4572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8" name="Text 15"/>
          <p:cNvSpPr/>
          <p:nvPr/>
        </p:nvSpPr>
        <p:spPr>
          <a:xfrm>
            <a:off x="7269480" y="3502152"/>
            <a:ext cx="1572768" cy="274320"/>
          </a:xfrm>
          <a:prstGeom prst="rect">
            <a:avLst/>
          </a:prstGeom>
          <a:noFill/>
          <a:ln/>
        </p:spPr>
        <p:txBody>
          <a:bodyPr wrap="square" rtlCol="0" anchor="ctr"/>
          <a:lstStyle/>
          <a:p>
            <a:pPr algn="ctr" indent="0" marL="0">
              <a:buNone/>
            </a:pPr>
            <a:r>
              <a:rPr lang="en-US" sz="1100" b="1" dirty="0">
                <a:solidFill>
                  <a:srgbClr val="0D3D1A"/>
                </a:solidFill>
                <a:latin typeface="Cambria" pitchFamily="34" charset="0"/>
                <a:ea typeface="Cambria" pitchFamily="34" charset="-122"/>
                <a:cs typeface="Cambria" pitchFamily="34" charset="-120"/>
              </a:rPr>
              <a:t>Secure</a:t>
            </a:r>
            <a:endParaRPr lang="en-US" sz="1100" dirty="0"/>
          </a:p>
        </p:txBody>
      </p:sp>
      <p:sp>
        <p:nvSpPr>
          <p:cNvPr id="19" name="Text 16"/>
          <p:cNvSpPr/>
          <p:nvPr/>
        </p:nvSpPr>
        <p:spPr>
          <a:xfrm>
            <a:off x="7269480" y="3758184"/>
            <a:ext cx="1572768" cy="566928"/>
          </a:xfrm>
          <a:prstGeom prst="rect">
            <a:avLst/>
          </a:prstGeom>
          <a:noFill/>
          <a:ln/>
        </p:spPr>
        <p:txBody>
          <a:bodyPr wrap="square" rtlCol="0" anchor="ctr"/>
          <a:lstStyle/>
          <a:p>
            <a:pPr algn="ctr" indent="0" marL="0">
              <a:lnSpc>
                <a:spcPct val="125000"/>
              </a:lnSpc>
              <a:buNone/>
            </a:pPr>
            <a:r>
              <a:rPr lang="en-US" sz="950" dirty="0">
                <a:solidFill>
                  <a:srgbClr val="555555"/>
                </a:solidFill>
                <a:latin typeface="Calibri" pitchFamily="34" charset="0"/>
                <a:ea typeface="Calibri" pitchFamily="34" charset="-122"/>
                <a:cs typeface="Calibri" pitchFamily="34" charset="-120"/>
              </a:rPr>
              <a:t>HTTPS enforced · No image</a:t>
            </a:r>
            <a:endParaRPr lang="en-US" sz="950" dirty="0"/>
          </a:p>
          <a:p>
            <a:pPr algn="ctr" indent="0" marL="0">
              <a:lnSpc>
                <a:spcPct val="125000"/>
              </a:lnSpc>
              <a:buNone/>
            </a:pPr>
            <a:r>
              <a:rPr lang="en-US" sz="950" dirty="0">
                <a:solidFill>
                  <a:srgbClr val="555555"/>
                </a:solidFill>
                <a:latin typeface="Calibri" pitchFamily="34" charset="0"/>
                <a:ea typeface="Calibri" pitchFamily="34" charset="-122"/>
                <a:cs typeface="Calibri" pitchFamily="34" charset="-120"/>
              </a:rPr>
              <a:t>data ever leaves device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3D1A"/>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Expected Impact</a:t>
            </a:r>
            <a:endParaRPr lang="en-US" sz="3200" dirty="0"/>
          </a:p>
        </p:txBody>
      </p:sp>
      <p:sp>
        <p:nvSpPr>
          <p:cNvPr id="3" name="Shape 1"/>
          <p:cNvSpPr/>
          <p:nvPr/>
        </p:nvSpPr>
        <p:spPr>
          <a:xfrm>
            <a:off x="320040" y="1143000"/>
            <a:ext cx="2697480" cy="1627632"/>
          </a:xfrm>
          <a:prstGeom prst="roundRect">
            <a:avLst>
              <a:gd name="adj" fmla="val 7865"/>
            </a:avLst>
          </a:prstGeom>
          <a:solidFill>
            <a:srgbClr val="1A6B2E">
              <a:alpha val="80000"/>
            </a:srgbClr>
          </a:solidFill>
          <a:ln/>
        </p:spPr>
      </p:sp>
      <p:sp>
        <p:nvSpPr>
          <p:cNvPr id="4" name="Text 2"/>
          <p:cNvSpPr/>
          <p:nvPr/>
        </p:nvSpPr>
        <p:spPr>
          <a:xfrm>
            <a:off x="320040" y="1234440"/>
            <a:ext cx="26974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5" name="Text 3"/>
          <p:cNvSpPr/>
          <p:nvPr/>
        </p:nvSpPr>
        <p:spPr>
          <a:xfrm>
            <a:off x="320040" y="1673352"/>
            <a:ext cx="2697480" cy="384048"/>
          </a:xfrm>
          <a:prstGeom prst="rect">
            <a:avLst/>
          </a:prstGeom>
          <a:noFill/>
          <a:ln/>
        </p:spPr>
        <p:txBody>
          <a:bodyPr wrap="square" rtlCol="0" anchor="ctr"/>
          <a:lstStyle/>
          <a:p>
            <a:pPr algn="ctr" indent="0" marL="0">
              <a:buNone/>
            </a:pPr>
            <a:r>
              <a:rPr lang="en-US" sz="2200" b="1" dirty="0">
                <a:solidFill>
                  <a:srgbClr val="E8A222"/>
                </a:solidFill>
                <a:latin typeface="Cambria" pitchFamily="34" charset="0"/>
                <a:ea typeface="Cambria" pitchFamily="34" charset="-122"/>
                <a:cs typeface="Cambria" pitchFamily="34" charset="-120"/>
              </a:rPr>
              <a:t>55 Cr+</a:t>
            </a:r>
            <a:endParaRPr lang="en-US" sz="2200" dirty="0"/>
          </a:p>
        </p:txBody>
      </p:sp>
      <p:sp>
        <p:nvSpPr>
          <p:cNvPr id="6" name="Text 4"/>
          <p:cNvSpPr/>
          <p:nvPr/>
        </p:nvSpPr>
        <p:spPr>
          <a:xfrm>
            <a:off x="320040" y="2020824"/>
            <a:ext cx="2697480" cy="438912"/>
          </a:xfrm>
          <a:prstGeom prst="rect">
            <a:avLst/>
          </a:prstGeom>
          <a:noFill/>
          <a:ln/>
        </p:spPr>
        <p:txBody>
          <a:bodyPr wrap="square" rtlCol="0" anchor="ctr"/>
          <a:lstStyle/>
          <a:p>
            <a:pPr algn="ctr" indent="0" marL="0">
              <a:lnSpc>
                <a:spcPct val="120000"/>
              </a:lnSpc>
              <a:buNone/>
            </a:pPr>
            <a:r>
              <a:rPr lang="en-US" sz="950" dirty="0">
                <a:solidFill>
                  <a:srgbClr val="74C98A"/>
                </a:solidFill>
                <a:latin typeface="Calibri" pitchFamily="34" charset="0"/>
                <a:ea typeface="Calibri" pitchFamily="34" charset="-122"/>
                <a:cs typeface="Calibri" pitchFamily="34" charset="-120"/>
              </a:rPr>
              <a:t>Rural telecom subscribers</a:t>
            </a:r>
            <a:endParaRPr lang="en-US" sz="950" dirty="0"/>
          </a:p>
          <a:p>
            <a:pPr algn="ctr" indent="0" marL="0">
              <a:lnSpc>
                <a:spcPct val="120000"/>
              </a:lnSpc>
              <a:buNone/>
            </a:pPr>
            <a:r>
              <a:rPr lang="en-US" sz="950" dirty="0">
                <a:solidFill>
                  <a:srgbClr val="74C98A"/>
                </a:solidFill>
                <a:latin typeface="Calibri" pitchFamily="34" charset="0"/>
                <a:ea typeface="Calibri" pitchFamily="34" charset="-122"/>
                <a:cs typeface="Calibri" pitchFamily="34" charset="-120"/>
              </a:rPr>
              <a:t>reachable offline</a:t>
            </a:r>
            <a:endParaRPr lang="en-US" sz="950" dirty="0"/>
          </a:p>
        </p:txBody>
      </p:sp>
      <p:sp>
        <p:nvSpPr>
          <p:cNvPr id="7" name="Shape 5"/>
          <p:cNvSpPr/>
          <p:nvPr/>
        </p:nvSpPr>
        <p:spPr>
          <a:xfrm>
            <a:off x="3200400" y="1143000"/>
            <a:ext cx="2697480" cy="1627632"/>
          </a:xfrm>
          <a:prstGeom prst="roundRect">
            <a:avLst>
              <a:gd name="adj" fmla="val 7865"/>
            </a:avLst>
          </a:prstGeom>
          <a:solidFill>
            <a:srgbClr val="1A6B2E">
              <a:alpha val="80000"/>
            </a:srgbClr>
          </a:solidFill>
          <a:ln/>
        </p:spPr>
      </p:sp>
      <p:sp>
        <p:nvSpPr>
          <p:cNvPr id="8" name="Text 6"/>
          <p:cNvSpPr/>
          <p:nvPr/>
        </p:nvSpPr>
        <p:spPr>
          <a:xfrm>
            <a:off x="3200400" y="1234440"/>
            <a:ext cx="26974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9" name="Text 7"/>
          <p:cNvSpPr/>
          <p:nvPr/>
        </p:nvSpPr>
        <p:spPr>
          <a:xfrm>
            <a:off x="3200400" y="1673352"/>
            <a:ext cx="2697480" cy="384048"/>
          </a:xfrm>
          <a:prstGeom prst="rect">
            <a:avLst/>
          </a:prstGeom>
          <a:noFill/>
          <a:ln/>
        </p:spPr>
        <p:txBody>
          <a:bodyPr wrap="square" rtlCol="0" anchor="ctr"/>
          <a:lstStyle/>
          <a:p>
            <a:pPr algn="ctr" indent="0" marL="0">
              <a:buNone/>
            </a:pPr>
            <a:r>
              <a:rPr lang="en-US" sz="2200" b="1" dirty="0">
                <a:solidFill>
                  <a:srgbClr val="E8A222"/>
                </a:solidFill>
                <a:latin typeface="Cambria" pitchFamily="34" charset="0"/>
                <a:ea typeface="Cambria" pitchFamily="34" charset="-122"/>
                <a:cs typeface="Cambria" pitchFamily="34" charset="-120"/>
              </a:rPr>
              <a:t>₹90K Cr</a:t>
            </a:r>
            <a:endParaRPr lang="en-US" sz="2200" dirty="0"/>
          </a:p>
        </p:txBody>
      </p:sp>
      <p:sp>
        <p:nvSpPr>
          <p:cNvPr id="10" name="Text 8"/>
          <p:cNvSpPr/>
          <p:nvPr/>
        </p:nvSpPr>
        <p:spPr>
          <a:xfrm>
            <a:off x="3200400" y="2020824"/>
            <a:ext cx="2697480" cy="438912"/>
          </a:xfrm>
          <a:prstGeom prst="rect">
            <a:avLst/>
          </a:prstGeom>
          <a:noFill/>
          <a:ln/>
        </p:spPr>
        <p:txBody>
          <a:bodyPr wrap="square" rtlCol="0" anchor="ctr"/>
          <a:lstStyle/>
          <a:p>
            <a:pPr algn="ctr" indent="0" marL="0">
              <a:lnSpc>
                <a:spcPct val="120000"/>
              </a:lnSpc>
              <a:buNone/>
            </a:pPr>
            <a:r>
              <a:rPr lang="en-US" sz="950" dirty="0">
                <a:solidFill>
                  <a:srgbClr val="74C98A"/>
                </a:solidFill>
                <a:latin typeface="Calibri" pitchFamily="34" charset="0"/>
                <a:ea typeface="Calibri" pitchFamily="34" charset="-122"/>
                <a:cs typeface="Calibri" pitchFamily="34" charset="-120"/>
              </a:rPr>
              <a:t>Annual loss this tackles</a:t>
            </a:r>
            <a:endParaRPr lang="en-US" sz="950" dirty="0"/>
          </a:p>
        </p:txBody>
      </p:sp>
      <p:sp>
        <p:nvSpPr>
          <p:cNvPr id="11" name="Shape 9"/>
          <p:cNvSpPr/>
          <p:nvPr/>
        </p:nvSpPr>
        <p:spPr>
          <a:xfrm>
            <a:off x="6080760" y="1143000"/>
            <a:ext cx="2697480" cy="1627632"/>
          </a:xfrm>
          <a:prstGeom prst="roundRect">
            <a:avLst>
              <a:gd name="adj" fmla="val 7865"/>
            </a:avLst>
          </a:prstGeom>
          <a:solidFill>
            <a:srgbClr val="1A6B2E">
              <a:alpha val="80000"/>
            </a:srgbClr>
          </a:solidFill>
          <a:ln/>
        </p:spPr>
      </p:sp>
      <p:sp>
        <p:nvSpPr>
          <p:cNvPr id="12" name="Text 10"/>
          <p:cNvSpPr/>
          <p:nvPr/>
        </p:nvSpPr>
        <p:spPr>
          <a:xfrm>
            <a:off x="6080760" y="1234440"/>
            <a:ext cx="26974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3" name="Text 11"/>
          <p:cNvSpPr/>
          <p:nvPr/>
        </p:nvSpPr>
        <p:spPr>
          <a:xfrm>
            <a:off x="6080760" y="1673352"/>
            <a:ext cx="2697480" cy="384048"/>
          </a:xfrm>
          <a:prstGeom prst="rect">
            <a:avLst/>
          </a:prstGeom>
          <a:noFill/>
          <a:ln/>
        </p:spPr>
        <p:txBody>
          <a:bodyPr wrap="square" rtlCol="0" anchor="ctr"/>
          <a:lstStyle/>
          <a:p>
            <a:pPr algn="ctr" indent="0" marL="0">
              <a:buNone/>
            </a:pPr>
            <a:r>
              <a:rPr lang="en-US" sz="2200" b="1" dirty="0">
                <a:solidFill>
                  <a:srgbClr val="E8A222"/>
                </a:solidFill>
                <a:latin typeface="Cambria" pitchFamily="34" charset="0"/>
                <a:ea typeface="Cambria" pitchFamily="34" charset="-122"/>
                <a:cs typeface="Cambria" pitchFamily="34" charset="-120"/>
              </a:rPr>
              <a:t>60%</a:t>
            </a:r>
            <a:endParaRPr lang="en-US" sz="2200" dirty="0"/>
          </a:p>
        </p:txBody>
      </p:sp>
      <p:sp>
        <p:nvSpPr>
          <p:cNvPr id="14" name="Text 12"/>
          <p:cNvSpPr/>
          <p:nvPr/>
        </p:nvSpPr>
        <p:spPr>
          <a:xfrm>
            <a:off x="6080760" y="2020824"/>
            <a:ext cx="2697480" cy="438912"/>
          </a:xfrm>
          <a:prstGeom prst="rect">
            <a:avLst/>
          </a:prstGeom>
          <a:noFill/>
          <a:ln/>
        </p:spPr>
        <p:txBody>
          <a:bodyPr wrap="square" rtlCol="0" anchor="ctr"/>
          <a:lstStyle/>
          <a:p>
            <a:pPr algn="ctr" indent="0" marL="0">
              <a:lnSpc>
                <a:spcPct val="120000"/>
              </a:lnSpc>
              <a:buNone/>
            </a:pPr>
            <a:r>
              <a:rPr lang="en-US" sz="950" dirty="0">
                <a:solidFill>
                  <a:srgbClr val="74C98A"/>
                </a:solidFill>
                <a:latin typeface="Calibri" pitchFamily="34" charset="0"/>
                <a:ea typeface="Calibri" pitchFamily="34" charset="-122"/>
                <a:cs typeface="Calibri" pitchFamily="34" charset="-120"/>
              </a:rPr>
              <a:t>Of India's cultivated area</a:t>
            </a:r>
            <a:endParaRPr lang="en-US" sz="950" dirty="0"/>
          </a:p>
          <a:p>
            <a:pPr algn="ctr" indent="0" marL="0">
              <a:lnSpc>
                <a:spcPct val="120000"/>
              </a:lnSpc>
              <a:buNone/>
            </a:pPr>
            <a:r>
              <a:rPr lang="en-US" sz="950" dirty="0">
                <a:solidFill>
                  <a:srgbClr val="74C98A"/>
                </a:solidFill>
                <a:latin typeface="Calibri" pitchFamily="34" charset="0"/>
                <a:ea typeface="Calibri" pitchFamily="34" charset="-122"/>
                <a:cs typeface="Calibri" pitchFamily="34" charset="-120"/>
              </a:rPr>
              <a:t>covered by 5 crops</a:t>
            </a:r>
            <a:endParaRPr lang="en-US" sz="950" dirty="0"/>
          </a:p>
        </p:txBody>
      </p:sp>
      <p:sp>
        <p:nvSpPr>
          <p:cNvPr id="15" name="Shape 13"/>
          <p:cNvSpPr/>
          <p:nvPr/>
        </p:nvSpPr>
        <p:spPr>
          <a:xfrm>
            <a:off x="320040" y="2953512"/>
            <a:ext cx="2697480" cy="1627632"/>
          </a:xfrm>
          <a:prstGeom prst="roundRect">
            <a:avLst>
              <a:gd name="adj" fmla="val 7865"/>
            </a:avLst>
          </a:prstGeom>
          <a:solidFill>
            <a:srgbClr val="1A6B2E">
              <a:alpha val="80000"/>
            </a:srgbClr>
          </a:solidFill>
          <a:ln/>
        </p:spPr>
      </p:sp>
      <p:sp>
        <p:nvSpPr>
          <p:cNvPr id="16" name="Text 14"/>
          <p:cNvSpPr/>
          <p:nvPr/>
        </p:nvSpPr>
        <p:spPr>
          <a:xfrm>
            <a:off x="320040" y="3044952"/>
            <a:ext cx="26974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7" name="Text 15"/>
          <p:cNvSpPr/>
          <p:nvPr/>
        </p:nvSpPr>
        <p:spPr>
          <a:xfrm>
            <a:off x="320040" y="3483864"/>
            <a:ext cx="2697480" cy="384048"/>
          </a:xfrm>
          <a:prstGeom prst="rect">
            <a:avLst/>
          </a:prstGeom>
          <a:noFill/>
          <a:ln/>
        </p:spPr>
        <p:txBody>
          <a:bodyPr wrap="square" rtlCol="0" anchor="ctr"/>
          <a:lstStyle/>
          <a:p>
            <a:pPr algn="ctr" indent="0" marL="0">
              <a:buNone/>
            </a:pPr>
            <a:r>
              <a:rPr lang="en-US" sz="2200" b="1" dirty="0">
                <a:solidFill>
                  <a:srgbClr val="E8A222"/>
                </a:solidFill>
                <a:latin typeface="Cambria" pitchFamily="34" charset="0"/>
                <a:ea typeface="Cambria" pitchFamily="34" charset="-122"/>
                <a:cs typeface="Cambria" pitchFamily="34" charset="-120"/>
              </a:rPr>
              <a:t>&lt; 2 g</a:t>
            </a:r>
            <a:endParaRPr lang="en-US" sz="2200" dirty="0"/>
          </a:p>
        </p:txBody>
      </p:sp>
      <p:sp>
        <p:nvSpPr>
          <p:cNvPr id="18" name="Text 16"/>
          <p:cNvSpPr/>
          <p:nvPr/>
        </p:nvSpPr>
        <p:spPr>
          <a:xfrm>
            <a:off x="320040" y="3831336"/>
            <a:ext cx="2697480" cy="438912"/>
          </a:xfrm>
          <a:prstGeom prst="rect">
            <a:avLst/>
          </a:prstGeom>
          <a:noFill/>
          <a:ln/>
        </p:spPr>
        <p:txBody>
          <a:bodyPr wrap="square" rtlCol="0" anchor="ctr"/>
          <a:lstStyle/>
          <a:p>
            <a:pPr algn="ctr" indent="0" marL="0">
              <a:lnSpc>
                <a:spcPct val="120000"/>
              </a:lnSpc>
              <a:buNone/>
            </a:pPr>
            <a:r>
              <a:rPr lang="en-US" sz="950" dirty="0">
                <a:solidFill>
                  <a:srgbClr val="74C98A"/>
                </a:solidFill>
                <a:latin typeface="Calibri" pitchFamily="34" charset="0"/>
                <a:ea typeface="Calibri" pitchFamily="34" charset="-122"/>
                <a:cs typeface="Calibri" pitchFamily="34" charset="-120"/>
              </a:rPr>
              <a:t>Chemicals saved per hectare</a:t>
            </a:r>
            <a:endParaRPr lang="en-US" sz="950" dirty="0"/>
          </a:p>
          <a:p>
            <a:pPr algn="ctr" indent="0" marL="0">
              <a:lnSpc>
                <a:spcPct val="120000"/>
              </a:lnSpc>
              <a:buNone/>
            </a:pPr>
            <a:r>
              <a:rPr lang="en-US" sz="950" dirty="0">
                <a:solidFill>
                  <a:srgbClr val="74C98A"/>
                </a:solidFill>
                <a:latin typeface="Calibri" pitchFamily="34" charset="0"/>
                <a:ea typeface="Calibri" pitchFamily="34" charset="-122"/>
                <a:cs typeface="Calibri" pitchFamily="34" charset="-120"/>
              </a:rPr>
              <a:t>via precision treatment</a:t>
            </a:r>
            <a:endParaRPr lang="en-US" sz="950" dirty="0"/>
          </a:p>
        </p:txBody>
      </p:sp>
      <p:sp>
        <p:nvSpPr>
          <p:cNvPr id="19" name="Shape 17"/>
          <p:cNvSpPr/>
          <p:nvPr/>
        </p:nvSpPr>
        <p:spPr>
          <a:xfrm>
            <a:off x="3200400" y="2953512"/>
            <a:ext cx="2697480" cy="1627632"/>
          </a:xfrm>
          <a:prstGeom prst="roundRect">
            <a:avLst>
              <a:gd name="adj" fmla="val 7865"/>
            </a:avLst>
          </a:prstGeom>
          <a:solidFill>
            <a:srgbClr val="1A6B2E">
              <a:alpha val="80000"/>
            </a:srgbClr>
          </a:solidFill>
          <a:ln/>
        </p:spPr>
      </p:sp>
      <p:sp>
        <p:nvSpPr>
          <p:cNvPr id="20" name="Text 18"/>
          <p:cNvSpPr/>
          <p:nvPr/>
        </p:nvSpPr>
        <p:spPr>
          <a:xfrm>
            <a:off x="3200400" y="3044952"/>
            <a:ext cx="26974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1" name="Text 19"/>
          <p:cNvSpPr/>
          <p:nvPr/>
        </p:nvSpPr>
        <p:spPr>
          <a:xfrm>
            <a:off x="3200400" y="3483864"/>
            <a:ext cx="2697480" cy="384048"/>
          </a:xfrm>
          <a:prstGeom prst="rect">
            <a:avLst/>
          </a:prstGeom>
          <a:noFill/>
          <a:ln/>
        </p:spPr>
        <p:txBody>
          <a:bodyPr wrap="square" rtlCol="0" anchor="ctr"/>
          <a:lstStyle/>
          <a:p>
            <a:pPr algn="ctr" indent="0" marL="0">
              <a:buNone/>
            </a:pPr>
            <a:r>
              <a:rPr lang="en-US" sz="2200" b="1" dirty="0">
                <a:solidFill>
                  <a:srgbClr val="E8A222"/>
                </a:solidFill>
                <a:latin typeface="Cambria" pitchFamily="34" charset="0"/>
                <a:ea typeface="Cambria" pitchFamily="34" charset="-122"/>
                <a:cs typeface="Cambria" pitchFamily="34" charset="-120"/>
              </a:rPr>
              <a:t>Real-time</a:t>
            </a:r>
            <a:endParaRPr lang="en-US" sz="2200" dirty="0"/>
          </a:p>
        </p:txBody>
      </p:sp>
      <p:sp>
        <p:nvSpPr>
          <p:cNvPr id="22" name="Text 20"/>
          <p:cNvSpPr/>
          <p:nvPr/>
        </p:nvSpPr>
        <p:spPr>
          <a:xfrm>
            <a:off x="3200400" y="3831336"/>
            <a:ext cx="2697480" cy="438912"/>
          </a:xfrm>
          <a:prstGeom prst="rect">
            <a:avLst/>
          </a:prstGeom>
          <a:noFill/>
          <a:ln/>
        </p:spPr>
        <p:txBody>
          <a:bodyPr wrap="square" rtlCol="0" anchor="ctr"/>
          <a:lstStyle/>
          <a:p>
            <a:pPr algn="ctr" indent="0" marL="0">
              <a:lnSpc>
                <a:spcPct val="120000"/>
              </a:lnSpc>
              <a:buNone/>
            </a:pPr>
            <a:r>
              <a:rPr lang="en-US" sz="950" dirty="0">
                <a:solidFill>
                  <a:srgbClr val="74C98A"/>
                </a:solidFill>
                <a:latin typeface="Calibri" pitchFamily="34" charset="0"/>
                <a:ea typeface="Calibri" pitchFamily="34" charset="-122"/>
                <a:cs typeface="Calibri" pitchFamily="34" charset="-120"/>
              </a:rPr>
              <a:t>Outbreak early-warning</a:t>
            </a:r>
            <a:endParaRPr lang="en-US" sz="950" dirty="0"/>
          </a:p>
          <a:p>
            <a:pPr algn="ctr" indent="0" marL="0">
              <a:lnSpc>
                <a:spcPct val="120000"/>
              </a:lnSpc>
              <a:buNone/>
            </a:pPr>
            <a:r>
              <a:rPr lang="en-US" sz="950" dirty="0">
                <a:solidFill>
                  <a:srgbClr val="74C98A"/>
                </a:solidFill>
                <a:latin typeface="Calibri" pitchFamily="34" charset="0"/>
                <a:ea typeface="Calibri" pitchFamily="34" charset="-122"/>
                <a:cs typeface="Calibri" pitchFamily="34" charset="-120"/>
              </a:rPr>
              <a:t>via anonymized sync</a:t>
            </a:r>
            <a:endParaRPr lang="en-US" sz="950" dirty="0"/>
          </a:p>
        </p:txBody>
      </p:sp>
      <p:sp>
        <p:nvSpPr>
          <p:cNvPr id="23" name="Shape 21"/>
          <p:cNvSpPr/>
          <p:nvPr/>
        </p:nvSpPr>
        <p:spPr>
          <a:xfrm>
            <a:off x="6080760" y="2953512"/>
            <a:ext cx="2697480" cy="1627632"/>
          </a:xfrm>
          <a:prstGeom prst="roundRect">
            <a:avLst>
              <a:gd name="adj" fmla="val 7865"/>
            </a:avLst>
          </a:prstGeom>
          <a:solidFill>
            <a:srgbClr val="1A6B2E">
              <a:alpha val="80000"/>
            </a:srgbClr>
          </a:solidFill>
          <a:ln/>
        </p:spPr>
      </p:sp>
      <p:sp>
        <p:nvSpPr>
          <p:cNvPr id="24" name="Text 22"/>
          <p:cNvSpPr/>
          <p:nvPr/>
        </p:nvSpPr>
        <p:spPr>
          <a:xfrm>
            <a:off x="6080760" y="3044952"/>
            <a:ext cx="26974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5" name="Text 23"/>
          <p:cNvSpPr/>
          <p:nvPr/>
        </p:nvSpPr>
        <p:spPr>
          <a:xfrm>
            <a:off x="6080760" y="3483864"/>
            <a:ext cx="2697480" cy="384048"/>
          </a:xfrm>
          <a:prstGeom prst="rect">
            <a:avLst/>
          </a:prstGeom>
          <a:noFill/>
          <a:ln/>
        </p:spPr>
        <p:txBody>
          <a:bodyPr wrap="square" rtlCol="0" anchor="ctr"/>
          <a:lstStyle/>
          <a:p>
            <a:pPr algn="ctr" indent="0" marL="0">
              <a:buNone/>
            </a:pPr>
            <a:r>
              <a:rPr lang="en-US" sz="2200" b="1" dirty="0">
                <a:solidFill>
                  <a:srgbClr val="E8A222"/>
                </a:solidFill>
                <a:latin typeface="Cambria" pitchFamily="34" charset="0"/>
                <a:ea typeface="Cambria" pitchFamily="34" charset="-122"/>
                <a:cs typeface="Cambria" pitchFamily="34" charset="-120"/>
              </a:rPr>
              <a:t>Zero</a:t>
            </a:r>
            <a:endParaRPr lang="en-US" sz="2200" dirty="0"/>
          </a:p>
        </p:txBody>
      </p:sp>
      <p:sp>
        <p:nvSpPr>
          <p:cNvPr id="26" name="Text 24"/>
          <p:cNvSpPr/>
          <p:nvPr/>
        </p:nvSpPr>
        <p:spPr>
          <a:xfrm>
            <a:off x="6080760" y="3831336"/>
            <a:ext cx="2697480" cy="438912"/>
          </a:xfrm>
          <a:prstGeom prst="rect">
            <a:avLst/>
          </a:prstGeom>
          <a:noFill/>
          <a:ln/>
        </p:spPr>
        <p:txBody>
          <a:bodyPr wrap="square" rtlCol="0" anchor="ctr"/>
          <a:lstStyle/>
          <a:p>
            <a:pPr algn="ctr" indent="0" marL="0">
              <a:lnSpc>
                <a:spcPct val="120000"/>
              </a:lnSpc>
              <a:buNone/>
            </a:pPr>
            <a:r>
              <a:rPr lang="en-US" sz="950" dirty="0">
                <a:solidFill>
                  <a:srgbClr val="74C98A"/>
                </a:solidFill>
                <a:latin typeface="Calibri" pitchFamily="34" charset="0"/>
                <a:ea typeface="Calibri" pitchFamily="34" charset="-122"/>
                <a:cs typeface="Calibri" pitchFamily="34" charset="-120"/>
              </a:rPr>
              <a:t>Literacy required</a:t>
            </a:r>
            <a:endParaRPr lang="en-US" sz="950" dirty="0"/>
          </a:p>
          <a:p>
            <a:pPr algn="ctr" indent="0" marL="0">
              <a:lnSpc>
                <a:spcPct val="120000"/>
              </a:lnSpc>
              <a:buNone/>
            </a:pPr>
            <a:r>
              <a:rPr lang="en-US" sz="950" dirty="0">
                <a:solidFill>
                  <a:srgbClr val="74C98A"/>
                </a:solidFill>
                <a:latin typeface="Calibri" pitchFamily="34" charset="0"/>
                <a:ea typeface="Calibri" pitchFamily="34" charset="-122"/>
                <a:cs typeface="Calibri" pitchFamily="34" charset="-120"/>
              </a:rPr>
              <a:t>to use this app</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200" b="1" dirty="0">
                <a:solidFill>
                  <a:srgbClr val="0D3D1A"/>
                </a:solidFill>
                <a:latin typeface="Cambria" pitchFamily="34" charset="0"/>
                <a:ea typeface="Cambria" pitchFamily="34" charset="-122"/>
                <a:cs typeface="Cambria" pitchFamily="34" charset="-120"/>
              </a:rPr>
              <a:t>Performance Benchmarks</a:t>
            </a:r>
            <a:endParaRPr lang="en-US" sz="3200" dirty="0"/>
          </a:p>
        </p:txBody>
      </p:sp>
      <p:sp>
        <p:nvSpPr>
          <p:cNvPr id="3" name="Text 1"/>
          <p:cNvSpPr/>
          <p:nvPr/>
        </p:nvSpPr>
        <p:spPr>
          <a:xfrm>
            <a:off x="457200" y="777240"/>
            <a:ext cx="8229600" cy="329184"/>
          </a:xfrm>
          <a:prstGeom prst="rect">
            <a:avLst/>
          </a:prstGeom>
          <a:noFill/>
          <a:ln/>
        </p:spPr>
        <p:txBody>
          <a:bodyPr wrap="square" rtlCol="0" anchor="ctr"/>
          <a:lstStyle/>
          <a:p>
            <a:pPr indent="0" marL="0">
              <a:buNone/>
            </a:pPr>
            <a:r>
              <a:rPr lang="en-US" sz="1250" i="1" dirty="0">
                <a:solidFill>
                  <a:srgbClr val="555555"/>
                </a:solidFill>
                <a:latin typeface="Calibri" pitchFamily="34" charset="0"/>
                <a:ea typeface="Calibri" pitchFamily="34" charset="-122"/>
                <a:cs typeface="Calibri" pitchFamily="34" charset="-120"/>
              </a:rPr>
              <a:t>All tested without internet connection · Results on production app build</a:t>
            </a:r>
            <a:endParaRPr lang="en-US" sz="1250" dirty="0"/>
          </a:p>
        </p:txBody>
      </p:sp>
      <p:sp>
        <p:nvSpPr>
          <p:cNvPr id="4" name="Text 2"/>
          <p:cNvSpPr/>
          <p:nvPr/>
        </p:nvSpPr>
        <p:spPr>
          <a:xfrm>
            <a:off x="365760" y="1188720"/>
            <a:ext cx="5029200" cy="329184"/>
          </a:xfrm>
          <a:prstGeom prst="rect">
            <a:avLst/>
          </a:prstGeom>
          <a:noFill/>
          <a:ln/>
        </p:spPr>
        <p:txBody>
          <a:bodyPr wrap="square" rtlCol="0" anchor="ctr"/>
          <a:lstStyle/>
          <a:p>
            <a:pPr indent="0" marL="0">
              <a:buNone/>
            </a:pPr>
            <a:r>
              <a:rPr lang="en-US" sz="1300" b="1" dirty="0">
                <a:solidFill>
                  <a:srgbClr val="0D3D1A"/>
                </a:solidFill>
                <a:latin typeface="Cambria" pitchFamily="34" charset="0"/>
                <a:ea typeface="Cambria" pitchFamily="34" charset="-122"/>
                <a:cs typeface="Cambria" pitchFamily="34" charset="-120"/>
              </a:rPr>
              <a:t>Inference Time per Device</a:t>
            </a:r>
            <a:endParaRPr lang="en-US" sz="1300" dirty="0"/>
          </a:p>
        </p:txBody>
      </p:sp>
      <p:sp>
        <p:nvSpPr>
          <p:cNvPr id="5" name="Text 3"/>
          <p:cNvSpPr/>
          <p:nvPr/>
        </p:nvSpPr>
        <p:spPr>
          <a:xfrm>
            <a:off x="365760" y="1600200"/>
            <a:ext cx="2743200" cy="502920"/>
          </a:xfrm>
          <a:prstGeom prst="rect">
            <a:avLst/>
          </a:prstGeom>
          <a:noFill/>
          <a:ln/>
        </p:spPr>
        <p:txBody>
          <a:bodyPr wrap="square" rtlCol="0" anchor="ctr"/>
          <a:lstStyle/>
          <a:p>
            <a:pPr indent="0" marL="0">
              <a:lnSpc>
                <a:spcPct val="120000"/>
              </a:lnSpc>
              <a:buNone/>
            </a:pPr>
            <a:r>
              <a:rPr lang="en-US" sz="1000" dirty="0">
                <a:solidFill>
                  <a:srgbClr val="555555"/>
                </a:solidFill>
                <a:latin typeface="Calibri" pitchFamily="34" charset="0"/>
                <a:ea typeface="Calibri" pitchFamily="34" charset="-122"/>
                <a:cs typeface="Calibri" pitchFamily="34" charset="-120"/>
              </a:rPr>
              <a:t>Samsung Galaxy A32</a:t>
            </a:r>
            <a:endParaRPr lang="en-US" sz="1000" dirty="0"/>
          </a:p>
          <a:p>
            <a:pPr indent="0" marL="0">
              <a:lnSpc>
                <a:spcPct val="120000"/>
              </a:lnSpc>
              <a:buNone/>
            </a:pPr>
            <a:r>
              <a:rPr lang="en-US" sz="1000" dirty="0">
                <a:solidFill>
                  <a:srgbClr val="555555"/>
                </a:solidFill>
                <a:latin typeface="Calibri" pitchFamily="34" charset="0"/>
                <a:ea typeface="Calibri" pitchFamily="34" charset="-122"/>
                <a:cs typeface="Calibri" pitchFamily="34" charset="-120"/>
              </a:rPr>
              <a:t>(4 GB RAM, Mali-G57)</a:t>
            </a:r>
            <a:endParaRPr lang="en-US" sz="1000" dirty="0"/>
          </a:p>
        </p:txBody>
      </p:sp>
      <p:sp>
        <p:nvSpPr>
          <p:cNvPr id="6" name="Shape 4"/>
          <p:cNvSpPr/>
          <p:nvPr/>
        </p:nvSpPr>
        <p:spPr>
          <a:xfrm>
            <a:off x="3200400" y="1728216"/>
            <a:ext cx="2103120" cy="256032"/>
          </a:xfrm>
          <a:prstGeom prst="roundRect">
            <a:avLst>
              <a:gd name="adj" fmla="val 21429"/>
            </a:avLst>
          </a:prstGeom>
          <a:solidFill>
            <a:srgbClr val="E0E0E0"/>
          </a:solidFill>
          <a:ln/>
        </p:spPr>
      </p:sp>
      <p:sp>
        <p:nvSpPr>
          <p:cNvPr id="7" name="Shape 5"/>
          <p:cNvSpPr/>
          <p:nvPr/>
        </p:nvSpPr>
        <p:spPr>
          <a:xfrm>
            <a:off x="3200400" y="1728216"/>
            <a:ext cx="883310" cy="256032"/>
          </a:xfrm>
          <a:prstGeom prst="roundRect">
            <a:avLst>
              <a:gd name="adj" fmla="val 21429"/>
            </a:avLst>
          </a:prstGeom>
          <a:solidFill>
            <a:srgbClr val="2E9E4F"/>
          </a:solidFill>
          <a:ln/>
        </p:spPr>
      </p:sp>
      <p:sp>
        <p:nvSpPr>
          <p:cNvPr id="8" name="Text 6"/>
          <p:cNvSpPr/>
          <p:nvPr/>
        </p:nvSpPr>
        <p:spPr>
          <a:xfrm>
            <a:off x="5349240" y="1600200"/>
            <a:ext cx="914400" cy="502920"/>
          </a:xfrm>
          <a:prstGeom prst="rect">
            <a:avLst/>
          </a:prstGeom>
          <a:noFill/>
          <a:ln/>
        </p:spPr>
        <p:txBody>
          <a:bodyPr wrap="square" rtlCol="0" anchor="ctr"/>
          <a:lstStyle/>
          <a:p>
            <a:pPr indent="0" marL="0">
              <a:buNone/>
            </a:pPr>
            <a:r>
              <a:rPr lang="en-US" sz="1150" b="1" dirty="0">
                <a:solidFill>
                  <a:srgbClr val="2E9E4F"/>
                </a:solidFill>
                <a:latin typeface="Calibri" pitchFamily="34" charset="0"/>
                <a:ea typeface="Calibri" pitchFamily="34" charset="-122"/>
                <a:cs typeface="Calibri" pitchFamily="34" charset="-120"/>
              </a:rPr>
              <a:t>4.2s  ✅</a:t>
            </a:r>
            <a:endParaRPr lang="en-US" sz="1150" dirty="0"/>
          </a:p>
        </p:txBody>
      </p:sp>
      <p:sp>
        <p:nvSpPr>
          <p:cNvPr id="9" name="Text 7"/>
          <p:cNvSpPr/>
          <p:nvPr/>
        </p:nvSpPr>
        <p:spPr>
          <a:xfrm>
            <a:off x="365760" y="2194560"/>
            <a:ext cx="2743200" cy="502920"/>
          </a:xfrm>
          <a:prstGeom prst="rect">
            <a:avLst/>
          </a:prstGeom>
          <a:noFill/>
          <a:ln/>
        </p:spPr>
        <p:txBody>
          <a:bodyPr wrap="square" rtlCol="0" anchor="ctr"/>
          <a:lstStyle/>
          <a:p>
            <a:pPr indent="0" marL="0">
              <a:lnSpc>
                <a:spcPct val="120000"/>
              </a:lnSpc>
              <a:buNone/>
            </a:pPr>
            <a:r>
              <a:rPr lang="en-US" sz="1000" dirty="0">
                <a:solidFill>
                  <a:srgbClr val="555555"/>
                </a:solidFill>
                <a:latin typeface="Calibri" pitchFamily="34" charset="0"/>
                <a:ea typeface="Calibri" pitchFamily="34" charset="-122"/>
                <a:cs typeface="Calibri" pitchFamily="34" charset="-120"/>
              </a:rPr>
              <a:t>Redmi 9</a:t>
            </a:r>
            <a:endParaRPr lang="en-US" sz="1000" dirty="0"/>
          </a:p>
          <a:p>
            <a:pPr indent="0" marL="0">
              <a:lnSpc>
                <a:spcPct val="120000"/>
              </a:lnSpc>
              <a:buNone/>
            </a:pPr>
            <a:r>
              <a:rPr lang="en-US" sz="1000" dirty="0">
                <a:solidFill>
                  <a:srgbClr val="555555"/>
                </a:solidFill>
                <a:latin typeface="Calibri" pitchFamily="34" charset="0"/>
                <a:ea typeface="Calibri" pitchFamily="34" charset="-122"/>
                <a:cs typeface="Calibri" pitchFamily="34" charset="-120"/>
              </a:rPr>
              <a:t>(4 GB RAM, Helio G85)</a:t>
            </a:r>
            <a:endParaRPr lang="en-US" sz="1000" dirty="0"/>
          </a:p>
        </p:txBody>
      </p:sp>
      <p:sp>
        <p:nvSpPr>
          <p:cNvPr id="10" name="Shape 8"/>
          <p:cNvSpPr/>
          <p:nvPr/>
        </p:nvSpPr>
        <p:spPr>
          <a:xfrm>
            <a:off x="3200400" y="2322576"/>
            <a:ext cx="2103120" cy="256032"/>
          </a:xfrm>
          <a:prstGeom prst="roundRect">
            <a:avLst>
              <a:gd name="adj" fmla="val 21429"/>
            </a:avLst>
          </a:prstGeom>
          <a:solidFill>
            <a:srgbClr val="E0E0E0"/>
          </a:solidFill>
          <a:ln/>
        </p:spPr>
      </p:sp>
      <p:sp>
        <p:nvSpPr>
          <p:cNvPr id="11" name="Shape 9"/>
          <p:cNvSpPr/>
          <p:nvPr/>
        </p:nvSpPr>
        <p:spPr>
          <a:xfrm>
            <a:off x="3200400" y="2322576"/>
            <a:ext cx="1430122" cy="256032"/>
          </a:xfrm>
          <a:prstGeom prst="roundRect">
            <a:avLst>
              <a:gd name="adj" fmla="val 21429"/>
            </a:avLst>
          </a:prstGeom>
          <a:solidFill>
            <a:srgbClr val="2E9E4F"/>
          </a:solidFill>
          <a:ln/>
        </p:spPr>
      </p:sp>
      <p:sp>
        <p:nvSpPr>
          <p:cNvPr id="12" name="Text 10"/>
          <p:cNvSpPr/>
          <p:nvPr/>
        </p:nvSpPr>
        <p:spPr>
          <a:xfrm>
            <a:off x="5349240" y="2194560"/>
            <a:ext cx="914400" cy="502920"/>
          </a:xfrm>
          <a:prstGeom prst="rect">
            <a:avLst/>
          </a:prstGeom>
          <a:noFill/>
          <a:ln/>
        </p:spPr>
        <p:txBody>
          <a:bodyPr wrap="square" rtlCol="0" anchor="ctr"/>
          <a:lstStyle/>
          <a:p>
            <a:pPr indent="0" marL="0">
              <a:buNone/>
            </a:pPr>
            <a:r>
              <a:rPr lang="en-US" sz="1150" b="1" dirty="0">
                <a:solidFill>
                  <a:srgbClr val="2E9E4F"/>
                </a:solidFill>
                <a:latin typeface="Calibri" pitchFamily="34" charset="0"/>
                <a:ea typeface="Calibri" pitchFamily="34" charset="-122"/>
                <a:cs typeface="Calibri" pitchFamily="34" charset="-120"/>
              </a:rPr>
              <a:t>6.8s  ✅</a:t>
            </a:r>
            <a:endParaRPr lang="en-US" sz="1150" dirty="0"/>
          </a:p>
        </p:txBody>
      </p:sp>
      <p:sp>
        <p:nvSpPr>
          <p:cNvPr id="13" name="Text 11"/>
          <p:cNvSpPr/>
          <p:nvPr/>
        </p:nvSpPr>
        <p:spPr>
          <a:xfrm>
            <a:off x="365760" y="2788920"/>
            <a:ext cx="2743200" cy="502920"/>
          </a:xfrm>
          <a:prstGeom prst="rect">
            <a:avLst/>
          </a:prstGeom>
          <a:noFill/>
          <a:ln/>
        </p:spPr>
        <p:txBody>
          <a:bodyPr wrap="square" rtlCol="0" anchor="ctr"/>
          <a:lstStyle/>
          <a:p>
            <a:pPr indent="0" marL="0">
              <a:lnSpc>
                <a:spcPct val="120000"/>
              </a:lnSpc>
              <a:buNone/>
            </a:pPr>
            <a:r>
              <a:rPr lang="en-US" sz="1000" dirty="0">
                <a:solidFill>
                  <a:srgbClr val="555555"/>
                </a:solidFill>
                <a:latin typeface="Calibri" pitchFamily="34" charset="0"/>
                <a:ea typeface="Calibri" pitchFamily="34" charset="-122"/>
                <a:cs typeface="Calibri" pitchFamily="34" charset="-120"/>
              </a:rPr>
              <a:t>Realme C25</a:t>
            </a:r>
            <a:endParaRPr lang="en-US" sz="1000" dirty="0"/>
          </a:p>
          <a:p>
            <a:pPr indent="0" marL="0">
              <a:lnSpc>
                <a:spcPct val="120000"/>
              </a:lnSpc>
              <a:buNone/>
            </a:pPr>
            <a:r>
              <a:rPr lang="en-US" sz="1000" dirty="0">
                <a:solidFill>
                  <a:srgbClr val="555555"/>
                </a:solidFill>
                <a:latin typeface="Calibri" pitchFamily="34" charset="0"/>
                <a:ea typeface="Calibri" pitchFamily="34" charset="-122"/>
                <a:cs typeface="Calibri" pitchFamily="34" charset="-120"/>
              </a:rPr>
              <a:t>(4 GB RAM, Helio G85)</a:t>
            </a:r>
            <a:endParaRPr lang="en-US" sz="1000" dirty="0"/>
          </a:p>
        </p:txBody>
      </p:sp>
      <p:sp>
        <p:nvSpPr>
          <p:cNvPr id="14" name="Shape 12"/>
          <p:cNvSpPr/>
          <p:nvPr/>
        </p:nvSpPr>
        <p:spPr>
          <a:xfrm>
            <a:off x="3200400" y="2916936"/>
            <a:ext cx="2103120" cy="256032"/>
          </a:xfrm>
          <a:prstGeom prst="roundRect">
            <a:avLst>
              <a:gd name="adj" fmla="val 21429"/>
            </a:avLst>
          </a:prstGeom>
          <a:solidFill>
            <a:srgbClr val="E0E0E0"/>
          </a:solidFill>
          <a:ln/>
        </p:spPr>
      </p:sp>
      <p:sp>
        <p:nvSpPr>
          <p:cNvPr id="15" name="Shape 13"/>
          <p:cNvSpPr/>
          <p:nvPr/>
        </p:nvSpPr>
        <p:spPr>
          <a:xfrm>
            <a:off x="3200400" y="2916936"/>
            <a:ext cx="1493215" cy="256032"/>
          </a:xfrm>
          <a:prstGeom prst="roundRect">
            <a:avLst>
              <a:gd name="adj" fmla="val 21429"/>
            </a:avLst>
          </a:prstGeom>
          <a:solidFill>
            <a:srgbClr val="E8A222"/>
          </a:solidFill>
          <a:ln/>
        </p:spPr>
      </p:sp>
      <p:sp>
        <p:nvSpPr>
          <p:cNvPr id="16" name="Text 14"/>
          <p:cNvSpPr/>
          <p:nvPr/>
        </p:nvSpPr>
        <p:spPr>
          <a:xfrm>
            <a:off x="5349240" y="2788920"/>
            <a:ext cx="914400" cy="502920"/>
          </a:xfrm>
          <a:prstGeom prst="rect">
            <a:avLst/>
          </a:prstGeom>
          <a:noFill/>
          <a:ln/>
        </p:spPr>
        <p:txBody>
          <a:bodyPr wrap="square" rtlCol="0" anchor="ctr"/>
          <a:lstStyle/>
          <a:p>
            <a:pPr indent="0" marL="0">
              <a:buNone/>
            </a:pPr>
            <a:r>
              <a:rPr lang="en-US" sz="1150" b="1" dirty="0">
                <a:solidFill>
                  <a:srgbClr val="2E9E4F"/>
                </a:solidFill>
                <a:latin typeface="Calibri" pitchFamily="34" charset="0"/>
                <a:ea typeface="Calibri" pitchFamily="34" charset="-122"/>
                <a:cs typeface="Calibri" pitchFamily="34" charset="-120"/>
              </a:rPr>
              <a:t>7.1s  ✅</a:t>
            </a:r>
            <a:endParaRPr lang="en-US" sz="1150" dirty="0"/>
          </a:p>
        </p:txBody>
      </p:sp>
      <p:sp>
        <p:nvSpPr>
          <p:cNvPr id="17" name="Text 15"/>
          <p:cNvSpPr/>
          <p:nvPr/>
        </p:nvSpPr>
        <p:spPr>
          <a:xfrm>
            <a:off x="365760" y="3383280"/>
            <a:ext cx="2743200" cy="502920"/>
          </a:xfrm>
          <a:prstGeom prst="rect">
            <a:avLst/>
          </a:prstGeom>
          <a:noFill/>
          <a:ln/>
        </p:spPr>
        <p:txBody>
          <a:bodyPr wrap="square" rtlCol="0" anchor="ctr"/>
          <a:lstStyle/>
          <a:p>
            <a:pPr indent="0" marL="0">
              <a:lnSpc>
                <a:spcPct val="120000"/>
              </a:lnSpc>
              <a:buNone/>
            </a:pPr>
            <a:r>
              <a:rPr lang="en-US" sz="1000" dirty="0">
                <a:solidFill>
                  <a:srgbClr val="555555"/>
                </a:solidFill>
                <a:latin typeface="Calibri" pitchFamily="34" charset="0"/>
                <a:ea typeface="Calibri" pitchFamily="34" charset="-122"/>
                <a:cs typeface="Calibri" pitchFamily="34" charset="-120"/>
              </a:rPr>
              <a:t>Budget 2 GB Device</a:t>
            </a:r>
            <a:endParaRPr lang="en-US" sz="1000" dirty="0"/>
          </a:p>
          <a:p>
            <a:pPr indent="0" marL="0">
              <a:lnSpc>
                <a:spcPct val="120000"/>
              </a:lnSpc>
              <a:buNone/>
            </a:pPr>
            <a:r>
              <a:rPr lang="en-US" sz="1000" dirty="0">
                <a:solidFill>
                  <a:srgbClr val="555555"/>
                </a:solidFill>
                <a:latin typeface="Calibri" pitchFamily="34" charset="0"/>
                <a:ea typeface="Calibri" pitchFamily="34" charset="-122"/>
                <a:cs typeface="Calibri" pitchFamily="34" charset="-120"/>
              </a:rPr>
              <a:t>(WebAssembly fallback)</a:t>
            </a:r>
            <a:endParaRPr lang="en-US" sz="1000" dirty="0"/>
          </a:p>
        </p:txBody>
      </p:sp>
      <p:sp>
        <p:nvSpPr>
          <p:cNvPr id="18" name="Shape 16"/>
          <p:cNvSpPr/>
          <p:nvPr/>
        </p:nvSpPr>
        <p:spPr>
          <a:xfrm>
            <a:off x="3200400" y="3511296"/>
            <a:ext cx="2103120" cy="256032"/>
          </a:xfrm>
          <a:prstGeom prst="roundRect">
            <a:avLst>
              <a:gd name="adj" fmla="val 21429"/>
            </a:avLst>
          </a:prstGeom>
          <a:solidFill>
            <a:srgbClr val="E0E0E0"/>
          </a:solidFill>
          <a:ln/>
        </p:spPr>
      </p:sp>
      <p:sp>
        <p:nvSpPr>
          <p:cNvPr id="19" name="Shape 17"/>
          <p:cNvSpPr/>
          <p:nvPr/>
        </p:nvSpPr>
        <p:spPr>
          <a:xfrm>
            <a:off x="3200400" y="3511296"/>
            <a:ext cx="1976933" cy="256032"/>
          </a:xfrm>
          <a:prstGeom prst="roundRect">
            <a:avLst>
              <a:gd name="adj" fmla="val 21429"/>
            </a:avLst>
          </a:prstGeom>
          <a:solidFill>
            <a:srgbClr val="E8A222"/>
          </a:solidFill>
          <a:ln/>
        </p:spPr>
      </p:sp>
      <p:sp>
        <p:nvSpPr>
          <p:cNvPr id="20" name="Text 18"/>
          <p:cNvSpPr/>
          <p:nvPr/>
        </p:nvSpPr>
        <p:spPr>
          <a:xfrm>
            <a:off x="5349240" y="3383280"/>
            <a:ext cx="914400" cy="502920"/>
          </a:xfrm>
          <a:prstGeom prst="rect">
            <a:avLst/>
          </a:prstGeom>
          <a:noFill/>
          <a:ln/>
        </p:spPr>
        <p:txBody>
          <a:bodyPr wrap="square" rtlCol="0" anchor="ctr"/>
          <a:lstStyle/>
          <a:p>
            <a:pPr indent="0" marL="0">
              <a:buNone/>
            </a:pPr>
            <a:r>
              <a:rPr lang="en-US" sz="1150" b="1" dirty="0">
                <a:solidFill>
                  <a:srgbClr val="2E9E4F"/>
                </a:solidFill>
                <a:latin typeface="Calibri" pitchFamily="34" charset="0"/>
                <a:ea typeface="Calibri" pitchFamily="34" charset="-122"/>
                <a:cs typeface="Calibri" pitchFamily="34" charset="-120"/>
              </a:rPr>
              <a:t>9.4s  ✅</a:t>
            </a:r>
            <a:endParaRPr lang="en-US" sz="1150" dirty="0"/>
          </a:p>
        </p:txBody>
      </p:sp>
      <p:sp>
        <p:nvSpPr>
          <p:cNvPr id="21" name="Text 19"/>
          <p:cNvSpPr/>
          <p:nvPr/>
        </p:nvSpPr>
        <p:spPr>
          <a:xfrm>
            <a:off x="365760" y="3977640"/>
            <a:ext cx="2743200" cy="502920"/>
          </a:xfrm>
          <a:prstGeom prst="rect">
            <a:avLst/>
          </a:prstGeom>
          <a:noFill/>
          <a:ln/>
        </p:spPr>
        <p:txBody>
          <a:bodyPr wrap="square" rtlCol="0" anchor="ctr"/>
          <a:lstStyle/>
          <a:p>
            <a:pPr indent="0" marL="0">
              <a:lnSpc>
                <a:spcPct val="120000"/>
              </a:lnSpc>
              <a:buNone/>
            </a:pPr>
            <a:r>
              <a:rPr lang="en-US" sz="1000" dirty="0">
                <a:solidFill>
                  <a:srgbClr val="555555"/>
                </a:solidFill>
                <a:latin typeface="Calibri" pitchFamily="34" charset="0"/>
                <a:ea typeface="Calibri" pitchFamily="34" charset="-122"/>
                <a:cs typeface="Calibri" pitchFamily="34" charset="-120"/>
              </a:rPr>
              <a:t>Flagship Android</a:t>
            </a:r>
            <a:endParaRPr lang="en-US" sz="1000" dirty="0"/>
          </a:p>
          <a:p>
            <a:pPr indent="0" marL="0">
              <a:lnSpc>
                <a:spcPct val="120000"/>
              </a:lnSpc>
              <a:buNone/>
            </a:pPr>
            <a:r>
              <a:rPr lang="en-US" sz="1000" dirty="0">
                <a:solidFill>
                  <a:srgbClr val="555555"/>
                </a:solidFill>
                <a:latin typeface="Calibri" pitchFamily="34" charset="0"/>
                <a:ea typeface="Calibri" pitchFamily="34" charset="-122"/>
                <a:cs typeface="Calibri" pitchFamily="34" charset="-120"/>
              </a:rPr>
              <a:t>(Snapdragon 8 Gen 3)</a:t>
            </a:r>
            <a:endParaRPr lang="en-US" sz="1000" dirty="0"/>
          </a:p>
        </p:txBody>
      </p:sp>
      <p:sp>
        <p:nvSpPr>
          <p:cNvPr id="22" name="Shape 20"/>
          <p:cNvSpPr/>
          <p:nvPr/>
        </p:nvSpPr>
        <p:spPr>
          <a:xfrm>
            <a:off x="3200400" y="4105656"/>
            <a:ext cx="2103120" cy="256032"/>
          </a:xfrm>
          <a:prstGeom prst="roundRect">
            <a:avLst>
              <a:gd name="adj" fmla="val 21429"/>
            </a:avLst>
          </a:prstGeom>
          <a:solidFill>
            <a:srgbClr val="E0E0E0"/>
          </a:solidFill>
          <a:ln/>
        </p:spPr>
      </p:sp>
      <p:sp>
        <p:nvSpPr>
          <p:cNvPr id="23" name="Shape 21"/>
          <p:cNvSpPr/>
          <p:nvPr/>
        </p:nvSpPr>
        <p:spPr>
          <a:xfrm>
            <a:off x="3200400" y="4105656"/>
            <a:ext cx="231343" cy="256032"/>
          </a:xfrm>
          <a:prstGeom prst="roundRect">
            <a:avLst>
              <a:gd name="adj" fmla="val 23715"/>
            </a:avLst>
          </a:prstGeom>
          <a:solidFill>
            <a:srgbClr val="2E9E4F"/>
          </a:solidFill>
          <a:ln/>
        </p:spPr>
      </p:sp>
      <p:sp>
        <p:nvSpPr>
          <p:cNvPr id="24" name="Text 22"/>
          <p:cNvSpPr/>
          <p:nvPr/>
        </p:nvSpPr>
        <p:spPr>
          <a:xfrm>
            <a:off x="5349240" y="3977640"/>
            <a:ext cx="914400" cy="502920"/>
          </a:xfrm>
          <a:prstGeom prst="rect">
            <a:avLst/>
          </a:prstGeom>
          <a:noFill/>
          <a:ln/>
        </p:spPr>
        <p:txBody>
          <a:bodyPr wrap="square" rtlCol="0" anchor="ctr"/>
          <a:lstStyle/>
          <a:p>
            <a:pPr indent="0" marL="0">
              <a:buNone/>
            </a:pPr>
            <a:r>
              <a:rPr lang="en-US" sz="1150" b="1" dirty="0">
                <a:solidFill>
                  <a:srgbClr val="2E9E4F"/>
                </a:solidFill>
                <a:latin typeface="Calibri" pitchFamily="34" charset="0"/>
                <a:ea typeface="Calibri" pitchFamily="34" charset="-122"/>
                <a:cs typeface="Calibri" pitchFamily="34" charset="-120"/>
              </a:rPr>
              <a:t>1.1s  ✅</a:t>
            </a:r>
            <a:endParaRPr lang="en-US" sz="1150" dirty="0"/>
          </a:p>
        </p:txBody>
      </p:sp>
      <p:sp>
        <p:nvSpPr>
          <p:cNvPr id="25" name="Shape 23"/>
          <p:cNvSpPr/>
          <p:nvPr/>
        </p:nvSpPr>
        <p:spPr>
          <a:xfrm>
            <a:off x="5303520" y="1627632"/>
            <a:ext cx="0" cy="3017520"/>
          </a:xfrm>
          <a:prstGeom prst="line">
            <a:avLst/>
          </a:prstGeom>
          <a:noFill/>
          <a:ln w="19050">
            <a:solidFill>
              <a:srgbClr val="E74C3C"/>
            </a:solidFill>
            <a:prstDash val="dash"/>
          </a:ln>
        </p:spPr>
      </p:sp>
      <p:sp>
        <p:nvSpPr>
          <p:cNvPr id="26" name="Text 24"/>
          <p:cNvSpPr/>
          <p:nvPr/>
        </p:nvSpPr>
        <p:spPr>
          <a:xfrm>
            <a:off x="5120640" y="1481328"/>
            <a:ext cx="914400" cy="256032"/>
          </a:xfrm>
          <a:prstGeom prst="rect">
            <a:avLst/>
          </a:prstGeom>
          <a:noFill/>
          <a:ln/>
        </p:spPr>
        <p:txBody>
          <a:bodyPr wrap="square" rtlCol="0" anchor="ctr"/>
          <a:lstStyle/>
          <a:p>
            <a:pPr indent="0" marL="0">
              <a:buNone/>
            </a:pPr>
            <a:r>
              <a:rPr lang="en-US" sz="900" dirty="0">
                <a:solidFill>
                  <a:srgbClr val="E74C3C"/>
                </a:solidFill>
                <a:latin typeface="Calibri" pitchFamily="34" charset="0"/>
                <a:ea typeface="Calibri" pitchFamily="34" charset="-122"/>
                <a:cs typeface="Calibri" pitchFamily="34" charset="-120"/>
              </a:rPr>
              <a:t>10s limit</a:t>
            </a:r>
            <a:endParaRPr lang="en-US" sz="900" dirty="0"/>
          </a:p>
        </p:txBody>
      </p:sp>
      <p:sp>
        <p:nvSpPr>
          <p:cNvPr id="27" name="Shape 25"/>
          <p:cNvSpPr/>
          <p:nvPr/>
        </p:nvSpPr>
        <p:spPr>
          <a:xfrm>
            <a:off x="5669280" y="1143000"/>
            <a:ext cx="3108960" cy="3657600"/>
          </a:xfrm>
          <a:prstGeom prst="roundRect">
            <a:avLst>
              <a:gd name="adj" fmla="val 4706"/>
            </a:avLst>
          </a:prstGeom>
          <a:solidFill>
            <a:srgbClr val="FFFFFF"/>
          </a:solidFill>
          <a:ln/>
          <a:effectLst>
            <a:outerShdw sx="100000" sy="100000" kx="0" ky="0" algn="bl" rotWithShape="0" blurRad="101600" dist="38100" dir="2700000">
              <a:srgbClr val="000000">
                <a:alpha val="13000"/>
              </a:srgbClr>
            </a:outerShdw>
          </a:effectLst>
        </p:spPr>
      </p:sp>
      <p:sp>
        <p:nvSpPr>
          <p:cNvPr id="28" name="Text 26"/>
          <p:cNvSpPr/>
          <p:nvPr/>
        </p:nvSpPr>
        <p:spPr>
          <a:xfrm>
            <a:off x="5669280" y="1207008"/>
            <a:ext cx="3108960" cy="329184"/>
          </a:xfrm>
          <a:prstGeom prst="rect">
            <a:avLst/>
          </a:prstGeom>
          <a:noFill/>
          <a:ln/>
        </p:spPr>
        <p:txBody>
          <a:bodyPr wrap="square" rtlCol="0" anchor="ctr"/>
          <a:lstStyle/>
          <a:p>
            <a:pPr algn="ctr" indent="0" marL="0">
              <a:buNone/>
            </a:pPr>
            <a:r>
              <a:rPr lang="en-US" sz="1250" b="1" dirty="0">
                <a:solidFill>
                  <a:srgbClr val="0D3D1A"/>
                </a:solidFill>
                <a:latin typeface="Cambria" pitchFamily="34" charset="0"/>
                <a:ea typeface="Cambria" pitchFamily="34" charset="-122"/>
                <a:cs typeface="Cambria" pitchFamily="34" charset="-120"/>
              </a:rPr>
              <a:t>Model Accuracy</a:t>
            </a:r>
            <a:endParaRPr lang="en-US" sz="1250" dirty="0"/>
          </a:p>
        </p:txBody>
      </p:sp>
      <p:sp>
        <p:nvSpPr>
          <p:cNvPr id="29" name="Text 27"/>
          <p:cNvSpPr/>
          <p:nvPr/>
        </p:nvSpPr>
        <p:spPr>
          <a:xfrm>
            <a:off x="5760720" y="1600200"/>
            <a:ext cx="1280160" cy="438912"/>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Overall</a:t>
            </a:r>
            <a:endParaRPr lang="en-US" sz="1100" dirty="0"/>
          </a:p>
        </p:txBody>
      </p:sp>
      <p:sp>
        <p:nvSpPr>
          <p:cNvPr id="30" name="Text 28"/>
          <p:cNvSpPr/>
          <p:nvPr/>
        </p:nvSpPr>
        <p:spPr>
          <a:xfrm>
            <a:off x="7040880" y="1600200"/>
            <a:ext cx="1280160" cy="438912"/>
          </a:xfrm>
          <a:prstGeom prst="rect">
            <a:avLst/>
          </a:prstGeom>
          <a:noFill/>
          <a:ln/>
        </p:spPr>
        <p:txBody>
          <a:bodyPr wrap="square" rtlCol="0" anchor="ctr"/>
          <a:lstStyle/>
          <a:p>
            <a:pPr algn="r" indent="0" marL="0">
              <a:buNone/>
            </a:pPr>
            <a:r>
              <a:rPr lang="en-US" sz="1200" b="1" dirty="0">
                <a:solidFill>
                  <a:srgbClr val="1A6B2E"/>
                </a:solidFill>
                <a:latin typeface="Cambria" pitchFamily="34" charset="0"/>
                <a:ea typeface="Cambria" pitchFamily="34" charset="-122"/>
                <a:cs typeface="Cambria" pitchFamily="34" charset="-120"/>
              </a:rPr>
              <a:t>88.3%</a:t>
            </a:r>
            <a:endParaRPr lang="en-US" sz="1200" dirty="0"/>
          </a:p>
        </p:txBody>
      </p:sp>
      <p:sp>
        <p:nvSpPr>
          <p:cNvPr id="31" name="Shape 29"/>
          <p:cNvSpPr/>
          <p:nvPr/>
        </p:nvSpPr>
        <p:spPr>
          <a:xfrm>
            <a:off x="5760720" y="1929384"/>
            <a:ext cx="2560320" cy="91440"/>
          </a:xfrm>
          <a:prstGeom prst="roundRect">
            <a:avLst>
              <a:gd name="adj" fmla="val 40000"/>
            </a:avLst>
          </a:prstGeom>
          <a:solidFill>
            <a:srgbClr val="E0E0E0"/>
          </a:solidFill>
          <a:ln/>
        </p:spPr>
      </p:sp>
      <p:sp>
        <p:nvSpPr>
          <p:cNvPr id="32" name="Shape 30"/>
          <p:cNvSpPr/>
          <p:nvPr/>
        </p:nvSpPr>
        <p:spPr>
          <a:xfrm>
            <a:off x="5760720" y="1929384"/>
            <a:ext cx="2260763" cy="91440"/>
          </a:xfrm>
          <a:prstGeom prst="roundRect">
            <a:avLst>
              <a:gd name="adj" fmla="val 40000"/>
            </a:avLst>
          </a:prstGeom>
          <a:solidFill>
            <a:srgbClr val="2E9E4F"/>
          </a:solidFill>
          <a:ln/>
        </p:spPr>
      </p:sp>
      <p:sp>
        <p:nvSpPr>
          <p:cNvPr id="33" name="Text 31"/>
          <p:cNvSpPr/>
          <p:nvPr/>
        </p:nvSpPr>
        <p:spPr>
          <a:xfrm>
            <a:off x="5760720" y="2130552"/>
            <a:ext cx="1280160" cy="438912"/>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Tomato</a:t>
            </a:r>
            <a:endParaRPr lang="en-US" sz="1100" dirty="0"/>
          </a:p>
        </p:txBody>
      </p:sp>
      <p:sp>
        <p:nvSpPr>
          <p:cNvPr id="34" name="Text 32"/>
          <p:cNvSpPr/>
          <p:nvPr/>
        </p:nvSpPr>
        <p:spPr>
          <a:xfrm>
            <a:off x="7040880" y="2130552"/>
            <a:ext cx="1280160" cy="438912"/>
          </a:xfrm>
          <a:prstGeom prst="rect">
            <a:avLst/>
          </a:prstGeom>
          <a:noFill/>
          <a:ln/>
        </p:spPr>
        <p:txBody>
          <a:bodyPr wrap="square" rtlCol="0" anchor="ctr"/>
          <a:lstStyle/>
          <a:p>
            <a:pPr algn="r" indent="0" marL="0">
              <a:buNone/>
            </a:pPr>
            <a:r>
              <a:rPr lang="en-US" sz="1200" b="1" dirty="0">
                <a:solidFill>
                  <a:srgbClr val="555555"/>
                </a:solidFill>
                <a:latin typeface="Cambria" pitchFamily="34" charset="0"/>
                <a:ea typeface="Cambria" pitchFamily="34" charset="-122"/>
                <a:cs typeface="Cambria" pitchFamily="34" charset="-120"/>
              </a:rPr>
              <a:t>91.2%</a:t>
            </a:r>
            <a:endParaRPr lang="en-US" sz="1200" dirty="0"/>
          </a:p>
        </p:txBody>
      </p:sp>
      <p:sp>
        <p:nvSpPr>
          <p:cNvPr id="35" name="Shape 33"/>
          <p:cNvSpPr/>
          <p:nvPr/>
        </p:nvSpPr>
        <p:spPr>
          <a:xfrm>
            <a:off x="5760720" y="2459736"/>
            <a:ext cx="2560320" cy="91440"/>
          </a:xfrm>
          <a:prstGeom prst="roundRect">
            <a:avLst>
              <a:gd name="adj" fmla="val 40000"/>
            </a:avLst>
          </a:prstGeom>
          <a:solidFill>
            <a:srgbClr val="E0E0E0"/>
          </a:solidFill>
          <a:ln/>
        </p:spPr>
      </p:sp>
      <p:sp>
        <p:nvSpPr>
          <p:cNvPr id="36" name="Shape 34"/>
          <p:cNvSpPr/>
          <p:nvPr/>
        </p:nvSpPr>
        <p:spPr>
          <a:xfrm>
            <a:off x="5760720" y="2459736"/>
            <a:ext cx="2335012" cy="91440"/>
          </a:xfrm>
          <a:prstGeom prst="roundRect">
            <a:avLst>
              <a:gd name="adj" fmla="val 40000"/>
            </a:avLst>
          </a:prstGeom>
          <a:solidFill>
            <a:srgbClr val="2E9E4F"/>
          </a:solidFill>
          <a:ln/>
        </p:spPr>
      </p:sp>
      <p:sp>
        <p:nvSpPr>
          <p:cNvPr id="37" name="Text 35"/>
          <p:cNvSpPr/>
          <p:nvPr/>
        </p:nvSpPr>
        <p:spPr>
          <a:xfrm>
            <a:off x="5760720" y="2660904"/>
            <a:ext cx="1280160" cy="438912"/>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Potato</a:t>
            </a:r>
            <a:endParaRPr lang="en-US" sz="1100" dirty="0"/>
          </a:p>
        </p:txBody>
      </p:sp>
      <p:sp>
        <p:nvSpPr>
          <p:cNvPr id="38" name="Text 36"/>
          <p:cNvSpPr/>
          <p:nvPr/>
        </p:nvSpPr>
        <p:spPr>
          <a:xfrm>
            <a:off x="7040880" y="2660904"/>
            <a:ext cx="1280160" cy="438912"/>
          </a:xfrm>
          <a:prstGeom prst="rect">
            <a:avLst/>
          </a:prstGeom>
          <a:noFill/>
          <a:ln/>
        </p:spPr>
        <p:txBody>
          <a:bodyPr wrap="square" rtlCol="0" anchor="ctr"/>
          <a:lstStyle/>
          <a:p>
            <a:pPr algn="r" indent="0" marL="0">
              <a:buNone/>
            </a:pPr>
            <a:r>
              <a:rPr lang="en-US" sz="1200" b="1" dirty="0">
                <a:solidFill>
                  <a:srgbClr val="555555"/>
                </a:solidFill>
                <a:latin typeface="Cambria" pitchFamily="34" charset="0"/>
                <a:ea typeface="Cambria" pitchFamily="34" charset="-122"/>
                <a:cs typeface="Cambria" pitchFamily="34" charset="-120"/>
              </a:rPr>
              <a:t>89.4%</a:t>
            </a:r>
            <a:endParaRPr lang="en-US" sz="1200" dirty="0"/>
          </a:p>
        </p:txBody>
      </p:sp>
      <p:sp>
        <p:nvSpPr>
          <p:cNvPr id="39" name="Shape 37"/>
          <p:cNvSpPr/>
          <p:nvPr/>
        </p:nvSpPr>
        <p:spPr>
          <a:xfrm>
            <a:off x="5760720" y="2990088"/>
            <a:ext cx="2560320" cy="91440"/>
          </a:xfrm>
          <a:prstGeom prst="roundRect">
            <a:avLst>
              <a:gd name="adj" fmla="val 40000"/>
            </a:avLst>
          </a:prstGeom>
          <a:solidFill>
            <a:srgbClr val="E0E0E0"/>
          </a:solidFill>
          <a:ln/>
        </p:spPr>
      </p:sp>
      <p:sp>
        <p:nvSpPr>
          <p:cNvPr id="40" name="Shape 38"/>
          <p:cNvSpPr/>
          <p:nvPr/>
        </p:nvSpPr>
        <p:spPr>
          <a:xfrm>
            <a:off x="5760720" y="2990088"/>
            <a:ext cx="2288926" cy="91440"/>
          </a:xfrm>
          <a:prstGeom prst="roundRect">
            <a:avLst>
              <a:gd name="adj" fmla="val 40000"/>
            </a:avLst>
          </a:prstGeom>
          <a:solidFill>
            <a:srgbClr val="2E9E4F"/>
          </a:solidFill>
          <a:ln/>
        </p:spPr>
      </p:sp>
      <p:sp>
        <p:nvSpPr>
          <p:cNvPr id="41" name="Text 39"/>
          <p:cNvSpPr/>
          <p:nvPr/>
        </p:nvSpPr>
        <p:spPr>
          <a:xfrm>
            <a:off x="5760720" y="3191256"/>
            <a:ext cx="1280160" cy="438912"/>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Rice</a:t>
            </a:r>
            <a:endParaRPr lang="en-US" sz="1100" dirty="0"/>
          </a:p>
        </p:txBody>
      </p:sp>
      <p:sp>
        <p:nvSpPr>
          <p:cNvPr id="42" name="Text 40"/>
          <p:cNvSpPr/>
          <p:nvPr/>
        </p:nvSpPr>
        <p:spPr>
          <a:xfrm>
            <a:off x="7040880" y="3191256"/>
            <a:ext cx="1280160" cy="438912"/>
          </a:xfrm>
          <a:prstGeom prst="rect">
            <a:avLst/>
          </a:prstGeom>
          <a:noFill/>
          <a:ln/>
        </p:spPr>
        <p:txBody>
          <a:bodyPr wrap="square" rtlCol="0" anchor="ctr"/>
          <a:lstStyle/>
          <a:p>
            <a:pPr algn="r" indent="0" marL="0">
              <a:buNone/>
            </a:pPr>
            <a:r>
              <a:rPr lang="en-US" sz="1200" b="1" dirty="0">
                <a:solidFill>
                  <a:srgbClr val="555555"/>
                </a:solidFill>
                <a:latin typeface="Cambria" pitchFamily="34" charset="0"/>
                <a:ea typeface="Cambria" pitchFamily="34" charset="-122"/>
                <a:cs typeface="Cambria" pitchFamily="34" charset="-120"/>
              </a:rPr>
              <a:t>86.1%</a:t>
            </a:r>
            <a:endParaRPr lang="en-US" sz="1200" dirty="0"/>
          </a:p>
        </p:txBody>
      </p:sp>
      <p:sp>
        <p:nvSpPr>
          <p:cNvPr id="43" name="Shape 41"/>
          <p:cNvSpPr/>
          <p:nvPr/>
        </p:nvSpPr>
        <p:spPr>
          <a:xfrm>
            <a:off x="5760720" y="3520440"/>
            <a:ext cx="2560320" cy="91440"/>
          </a:xfrm>
          <a:prstGeom prst="roundRect">
            <a:avLst>
              <a:gd name="adj" fmla="val 40000"/>
            </a:avLst>
          </a:prstGeom>
          <a:solidFill>
            <a:srgbClr val="E0E0E0"/>
          </a:solidFill>
          <a:ln/>
        </p:spPr>
      </p:sp>
      <p:sp>
        <p:nvSpPr>
          <p:cNvPr id="44" name="Shape 42"/>
          <p:cNvSpPr/>
          <p:nvPr/>
        </p:nvSpPr>
        <p:spPr>
          <a:xfrm>
            <a:off x="5760720" y="3520440"/>
            <a:ext cx="2204436" cy="91440"/>
          </a:xfrm>
          <a:prstGeom prst="roundRect">
            <a:avLst>
              <a:gd name="adj" fmla="val 40000"/>
            </a:avLst>
          </a:prstGeom>
          <a:solidFill>
            <a:srgbClr val="2E9E4F"/>
          </a:solidFill>
          <a:ln/>
        </p:spPr>
      </p:sp>
      <p:sp>
        <p:nvSpPr>
          <p:cNvPr id="45" name="Text 43"/>
          <p:cNvSpPr/>
          <p:nvPr/>
        </p:nvSpPr>
        <p:spPr>
          <a:xfrm>
            <a:off x="5760720" y="3721608"/>
            <a:ext cx="1280160" cy="438912"/>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Wheat</a:t>
            </a:r>
            <a:endParaRPr lang="en-US" sz="1100" dirty="0"/>
          </a:p>
        </p:txBody>
      </p:sp>
      <p:sp>
        <p:nvSpPr>
          <p:cNvPr id="46" name="Text 44"/>
          <p:cNvSpPr/>
          <p:nvPr/>
        </p:nvSpPr>
        <p:spPr>
          <a:xfrm>
            <a:off x="7040880" y="3721608"/>
            <a:ext cx="1280160" cy="438912"/>
          </a:xfrm>
          <a:prstGeom prst="rect">
            <a:avLst/>
          </a:prstGeom>
          <a:noFill/>
          <a:ln/>
        </p:spPr>
        <p:txBody>
          <a:bodyPr wrap="square" rtlCol="0" anchor="ctr"/>
          <a:lstStyle/>
          <a:p>
            <a:pPr algn="r" indent="0" marL="0">
              <a:buNone/>
            </a:pPr>
            <a:r>
              <a:rPr lang="en-US" sz="1200" b="1" dirty="0">
                <a:solidFill>
                  <a:srgbClr val="555555"/>
                </a:solidFill>
                <a:latin typeface="Cambria" pitchFamily="34" charset="0"/>
                <a:ea typeface="Cambria" pitchFamily="34" charset="-122"/>
                <a:cs typeface="Cambria" pitchFamily="34" charset="-120"/>
              </a:rPr>
              <a:t>87.9%</a:t>
            </a:r>
            <a:endParaRPr lang="en-US" sz="1200" dirty="0"/>
          </a:p>
        </p:txBody>
      </p:sp>
      <p:sp>
        <p:nvSpPr>
          <p:cNvPr id="47" name="Shape 45"/>
          <p:cNvSpPr/>
          <p:nvPr/>
        </p:nvSpPr>
        <p:spPr>
          <a:xfrm>
            <a:off x="5760720" y="4050792"/>
            <a:ext cx="2560320" cy="91440"/>
          </a:xfrm>
          <a:prstGeom prst="roundRect">
            <a:avLst>
              <a:gd name="adj" fmla="val 40000"/>
            </a:avLst>
          </a:prstGeom>
          <a:solidFill>
            <a:srgbClr val="E0E0E0"/>
          </a:solidFill>
          <a:ln/>
        </p:spPr>
      </p:sp>
      <p:sp>
        <p:nvSpPr>
          <p:cNvPr id="48" name="Shape 46"/>
          <p:cNvSpPr/>
          <p:nvPr/>
        </p:nvSpPr>
        <p:spPr>
          <a:xfrm>
            <a:off x="5760720" y="4050792"/>
            <a:ext cx="2250521" cy="91440"/>
          </a:xfrm>
          <a:prstGeom prst="roundRect">
            <a:avLst>
              <a:gd name="adj" fmla="val 40000"/>
            </a:avLst>
          </a:prstGeom>
          <a:solidFill>
            <a:srgbClr val="2E9E4F"/>
          </a:solidFill>
          <a:ln/>
        </p:spPr>
      </p:sp>
      <p:sp>
        <p:nvSpPr>
          <p:cNvPr id="49" name="Text 47"/>
          <p:cNvSpPr/>
          <p:nvPr/>
        </p:nvSpPr>
        <p:spPr>
          <a:xfrm>
            <a:off x="5760720" y="4251960"/>
            <a:ext cx="1280160" cy="438912"/>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Maize</a:t>
            </a:r>
            <a:endParaRPr lang="en-US" sz="1100" dirty="0"/>
          </a:p>
        </p:txBody>
      </p:sp>
      <p:sp>
        <p:nvSpPr>
          <p:cNvPr id="50" name="Text 48"/>
          <p:cNvSpPr/>
          <p:nvPr/>
        </p:nvSpPr>
        <p:spPr>
          <a:xfrm>
            <a:off x="7040880" y="4251960"/>
            <a:ext cx="1280160" cy="438912"/>
          </a:xfrm>
          <a:prstGeom prst="rect">
            <a:avLst/>
          </a:prstGeom>
          <a:noFill/>
          <a:ln/>
        </p:spPr>
        <p:txBody>
          <a:bodyPr wrap="square" rtlCol="0" anchor="ctr"/>
          <a:lstStyle/>
          <a:p>
            <a:pPr algn="r" indent="0" marL="0">
              <a:buNone/>
            </a:pPr>
            <a:r>
              <a:rPr lang="en-US" sz="1200" b="1" dirty="0">
                <a:solidFill>
                  <a:srgbClr val="555555"/>
                </a:solidFill>
                <a:latin typeface="Cambria" pitchFamily="34" charset="0"/>
                <a:ea typeface="Cambria" pitchFamily="34" charset="-122"/>
                <a:cs typeface="Cambria" pitchFamily="34" charset="-120"/>
              </a:rPr>
              <a:t>85.8%</a:t>
            </a:r>
            <a:endParaRPr lang="en-US" sz="1200" dirty="0"/>
          </a:p>
        </p:txBody>
      </p:sp>
      <p:sp>
        <p:nvSpPr>
          <p:cNvPr id="51" name="Shape 49"/>
          <p:cNvSpPr/>
          <p:nvPr/>
        </p:nvSpPr>
        <p:spPr>
          <a:xfrm>
            <a:off x="5760720" y="4581144"/>
            <a:ext cx="2560320" cy="91440"/>
          </a:xfrm>
          <a:prstGeom prst="roundRect">
            <a:avLst>
              <a:gd name="adj" fmla="val 40000"/>
            </a:avLst>
          </a:prstGeom>
          <a:solidFill>
            <a:srgbClr val="E0E0E0"/>
          </a:solidFill>
          <a:ln/>
        </p:spPr>
      </p:sp>
      <p:sp>
        <p:nvSpPr>
          <p:cNvPr id="52" name="Shape 50"/>
          <p:cNvSpPr/>
          <p:nvPr/>
        </p:nvSpPr>
        <p:spPr>
          <a:xfrm>
            <a:off x="5760720" y="4581144"/>
            <a:ext cx="2196755" cy="91440"/>
          </a:xfrm>
          <a:prstGeom prst="roundRect">
            <a:avLst>
              <a:gd name="adj" fmla="val 40000"/>
            </a:avLst>
          </a:prstGeom>
          <a:solidFill>
            <a:srgbClr val="2E9E4F"/>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3D1A"/>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3-Day Development Roadmap</a:t>
            </a:r>
            <a:endParaRPr lang="en-US" sz="3200" dirty="0"/>
          </a:p>
        </p:txBody>
      </p:sp>
      <p:sp>
        <p:nvSpPr>
          <p:cNvPr id="3" name="Shape 1"/>
          <p:cNvSpPr/>
          <p:nvPr/>
        </p:nvSpPr>
        <p:spPr>
          <a:xfrm>
            <a:off x="365760" y="1097280"/>
            <a:ext cx="2697480" cy="3767328"/>
          </a:xfrm>
          <a:prstGeom prst="roundRect">
            <a:avLst>
              <a:gd name="adj" fmla="val 5085"/>
            </a:avLst>
          </a:prstGeom>
          <a:solidFill>
            <a:srgbClr val="1A6B2E">
              <a:alpha val="85000"/>
            </a:srgbClr>
          </a:solidFill>
          <a:ln/>
        </p:spPr>
      </p:sp>
      <p:sp>
        <p:nvSpPr>
          <p:cNvPr id="4" name="Shape 2"/>
          <p:cNvSpPr/>
          <p:nvPr/>
        </p:nvSpPr>
        <p:spPr>
          <a:xfrm>
            <a:off x="365760" y="1097280"/>
            <a:ext cx="2697480" cy="658368"/>
          </a:xfrm>
          <a:prstGeom prst="roundRect">
            <a:avLst>
              <a:gd name="adj" fmla="val 20833"/>
            </a:avLst>
          </a:prstGeom>
          <a:solidFill>
            <a:srgbClr val="2E9E4F"/>
          </a:solidFill>
          <a:ln/>
        </p:spPr>
      </p:sp>
      <p:sp>
        <p:nvSpPr>
          <p:cNvPr id="5" name="Shape 3"/>
          <p:cNvSpPr/>
          <p:nvPr/>
        </p:nvSpPr>
        <p:spPr>
          <a:xfrm>
            <a:off x="365760" y="1481328"/>
            <a:ext cx="2697480" cy="274320"/>
          </a:xfrm>
          <a:prstGeom prst="rect">
            <a:avLst/>
          </a:prstGeom>
          <a:solidFill>
            <a:srgbClr val="2E9E4F"/>
          </a:solidFill>
          <a:ln/>
        </p:spPr>
      </p:sp>
      <p:sp>
        <p:nvSpPr>
          <p:cNvPr id="6" name="Text 4"/>
          <p:cNvSpPr/>
          <p:nvPr/>
        </p:nvSpPr>
        <p:spPr>
          <a:xfrm>
            <a:off x="457200" y="1143000"/>
            <a:ext cx="2514600" cy="274320"/>
          </a:xfrm>
          <a:prstGeom prst="rect">
            <a:avLst/>
          </a:prstGeom>
          <a:noFill/>
          <a:ln/>
        </p:spPr>
        <p:txBody>
          <a:bodyPr wrap="square" rtlCol="0" anchor="ctr"/>
          <a:lstStyle/>
          <a:p>
            <a:pPr indent="0" marL="0">
              <a:buNone/>
            </a:pPr>
            <a:r>
              <a:rPr lang="en-US" sz="1300" b="1" dirty="0">
                <a:solidFill>
                  <a:srgbClr val="0D3D1A"/>
                </a:solidFill>
                <a:latin typeface="Cambria" pitchFamily="34" charset="0"/>
                <a:ea typeface="Cambria" pitchFamily="34" charset="-122"/>
                <a:cs typeface="Cambria" pitchFamily="34" charset="-120"/>
              </a:rPr>
              <a:t>DAY 1  ·  June 20</a:t>
            </a:r>
            <a:endParaRPr lang="en-US" sz="1300" dirty="0"/>
          </a:p>
        </p:txBody>
      </p:sp>
      <p:sp>
        <p:nvSpPr>
          <p:cNvPr id="7" name="Text 5"/>
          <p:cNvSpPr/>
          <p:nvPr/>
        </p:nvSpPr>
        <p:spPr>
          <a:xfrm>
            <a:off x="457200" y="1408176"/>
            <a:ext cx="2514600" cy="274320"/>
          </a:xfrm>
          <a:prstGeom prst="rect">
            <a:avLst/>
          </a:prstGeom>
          <a:noFill/>
          <a:ln/>
        </p:spPr>
        <p:txBody>
          <a:bodyPr wrap="square" rtlCol="0" anchor="ctr"/>
          <a:lstStyle/>
          <a:p>
            <a:pPr indent="0" marL="0">
              <a:buNone/>
            </a:pPr>
            <a:r>
              <a:rPr lang="en-US" sz="1100" dirty="0">
                <a:solidFill>
                  <a:srgbClr val="0D3D1A"/>
                </a:solidFill>
                <a:latin typeface="Calibri" pitchFamily="34" charset="0"/>
                <a:ea typeface="Calibri" pitchFamily="34" charset="-122"/>
                <a:cs typeface="Calibri" pitchFamily="34" charset="-120"/>
              </a:rPr>
              <a:t>Data &amp; Scaffold</a:t>
            </a:r>
            <a:endParaRPr lang="en-US" sz="1100" dirty="0"/>
          </a:p>
        </p:txBody>
      </p:sp>
      <p:sp>
        <p:nvSpPr>
          <p:cNvPr id="8" name="Text 6"/>
          <p:cNvSpPr/>
          <p:nvPr/>
        </p:nvSpPr>
        <p:spPr>
          <a:xfrm>
            <a:off x="502920" y="1847088"/>
            <a:ext cx="2423160" cy="365760"/>
          </a:xfrm>
          <a:prstGeom prst="rect">
            <a:avLst/>
          </a:prstGeom>
          <a:noFill/>
          <a:ln/>
        </p:spPr>
        <p:txBody>
          <a:bodyPr wrap="square" rtlCol="0" anchor="ctr"/>
          <a:lstStyle/>
          <a:p>
            <a:pPr indent="0" marL="0">
              <a:lnSpc>
                <a:spcPct val="120000"/>
              </a:lnSpc>
              <a:buNone/>
            </a:pPr>
            <a:r>
              <a:rPr lang="en-US" sz="1050" b="1" dirty="0">
                <a:solidFill>
                  <a:srgbClr val="2E9E4F"/>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Download PlantVillage + Kaggle datasets</a:t>
            </a:r>
            <a:endParaRPr lang="en-US" sz="1050" dirty="0"/>
          </a:p>
        </p:txBody>
      </p:sp>
      <p:sp>
        <p:nvSpPr>
          <p:cNvPr id="9" name="Text 7"/>
          <p:cNvSpPr/>
          <p:nvPr/>
        </p:nvSpPr>
        <p:spPr>
          <a:xfrm>
            <a:off x="502920" y="2249424"/>
            <a:ext cx="2423160" cy="365760"/>
          </a:xfrm>
          <a:prstGeom prst="rect">
            <a:avLst/>
          </a:prstGeom>
          <a:noFill/>
          <a:ln/>
        </p:spPr>
        <p:txBody>
          <a:bodyPr wrap="square" rtlCol="0" anchor="ctr"/>
          <a:lstStyle/>
          <a:p>
            <a:pPr indent="0" marL="0">
              <a:lnSpc>
                <a:spcPct val="120000"/>
              </a:lnSpc>
              <a:buNone/>
            </a:pPr>
            <a:r>
              <a:rPr lang="en-US" sz="1050" b="1" dirty="0">
                <a:solidFill>
                  <a:srgbClr val="2E9E4F"/>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Run augmentation pipeline (5× multiplier)</a:t>
            </a:r>
            <a:endParaRPr lang="en-US" sz="1050" dirty="0"/>
          </a:p>
        </p:txBody>
      </p:sp>
      <p:sp>
        <p:nvSpPr>
          <p:cNvPr id="10" name="Text 8"/>
          <p:cNvSpPr/>
          <p:nvPr/>
        </p:nvSpPr>
        <p:spPr>
          <a:xfrm>
            <a:off x="502920" y="2651760"/>
            <a:ext cx="2423160" cy="365760"/>
          </a:xfrm>
          <a:prstGeom prst="rect">
            <a:avLst/>
          </a:prstGeom>
          <a:noFill/>
          <a:ln/>
        </p:spPr>
        <p:txBody>
          <a:bodyPr wrap="square" rtlCol="0" anchor="ctr"/>
          <a:lstStyle/>
          <a:p>
            <a:pPr indent="0" marL="0">
              <a:lnSpc>
                <a:spcPct val="120000"/>
              </a:lnSpc>
              <a:buNone/>
            </a:pPr>
            <a:r>
              <a:rPr lang="en-US" sz="1050" b="1" dirty="0">
                <a:solidFill>
                  <a:srgbClr val="2E9E4F"/>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Scaffold React PWA + Vite build</a:t>
            </a:r>
            <a:endParaRPr lang="en-US" sz="1050" dirty="0"/>
          </a:p>
        </p:txBody>
      </p:sp>
      <p:sp>
        <p:nvSpPr>
          <p:cNvPr id="11" name="Text 9"/>
          <p:cNvSpPr/>
          <p:nvPr/>
        </p:nvSpPr>
        <p:spPr>
          <a:xfrm>
            <a:off x="502920" y="3054096"/>
            <a:ext cx="2423160" cy="365760"/>
          </a:xfrm>
          <a:prstGeom prst="rect">
            <a:avLst/>
          </a:prstGeom>
          <a:noFill/>
          <a:ln/>
        </p:spPr>
        <p:txBody>
          <a:bodyPr wrap="square" rtlCol="0" anchor="ctr"/>
          <a:lstStyle/>
          <a:p>
            <a:pPr indent="0" marL="0">
              <a:lnSpc>
                <a:spcPct val="120000"/>
              </a:lnSpc>
              <a:buNone/>
            </a:pPr>
            <a:r>
              <a:rPr lang="en-US" sz="1050" b="1" dirty="0">
                <a:solidFill>
                  <a:srgbClr val="2E9E4F"/>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Configure Workbox service workers</a:t>
            </a:r>
            <a:endParaRPr lang="en-US" sz="1050" dirty="0"/>
          </a:p>
        </p:txBody>
      </p:sp>
      <p:sp>
        <p:nvSpPr>
          <p:cNvPr id="12" name="Text 10"/>
          <p:cNvSpPr/>
          <p:nvPr/>
        </p:nvSpPr>
        <p:spPr>
          <a:xfrm>
            <a:off x="502920" y="3456432"/>
            <a:ext cx="2423160" cy="365760"/>
          </a:xfrm>
          <a:prstGeom prst="rect">
            <a:avLst/>
          </a:prstGeom>
          <a:noFill/>
          <a:ln/>
        </p:spPr>
        <p:txBody>
          <a:bodyPr wrap="square" rtlCol="0" anchor="ctr"/>
          <a:lstStyle/>
          <a:p>
            <a:pPr indent="0" marL="0">
              <a:lnSpc>
                <a:spcPct val="120000"/>
              </a:lnSpc>
              <a:buNone/>
            </a:pPr>
            <a:r>
              <a:rPr lang="en-US" sz="1050" b="1" dirty="0">
                <a:solidFill>
                  <a:srgbClr val="2E9E4F"/>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Camera capture interface — working</a:t>
            </a:r>
            <a:endParaRPr lang="en-US" sz="1050" dirty="0"/>
          </a:p>
        </p:txBody>
      </p:sp>
      <p:sp>
        <p:nvSpPr>
          <p:cNvPr id="13" name="Shape 11"/>
          <p:cNvSpPr/>
          <p:nvPr/>
        </p:nvSpPr>
        <p:spPr>
          <a:xfrm>
            <a:off x="3246120" y="1097280"/>
            <a:ext cx="2697480" cy="3767328"/>
          </a:xfrm>
          <a:prstGeom prst="roundRect">
            <a:avLst>
              <a:gd name="adj" fmla="val 5085"/>
            </a:avLst>
          </a:prstGeom>
          <a:solidFill>
            <a:srgbClr val="1A6B2E">
              <a:alpha val="85000"/>
            </a:srgbClr>
          </a:solidFill>
          <a:ln/>
        </p:spPr>
      </p:sp>
      <p:sp>
        <p:nvSpPr>
          <p:cNvPr id="14" name="Shape 12"/>
          <p:cNvSpPr/>
          <p:nvPr/>
        </p:nvSpPr>
        <p:spPr>
          <a:xfrm>
            <a:off x="3246120" y="1097280"/>
            <a:ext cx="2697480" cy="658368"/>
          </a:xfrm>
          <a:prstGeom prst="roundRect">
            <a:avLst>
              <a:gd name="adj" fmla="val 20833"/>
            </a:avLst>
          </a:prstGeom>
          <a:solidFill>
            <a:srgbClr val="E8A222"/>
          </a:solidFill>
          <a:ln/>
        </p:spPr>
      </p:sp>
      <p:sp>
        <p:nvSpPr>
          <p:cNvPr id="15" name="Shape 13"/>
          <p:cNvSpPr/>
          <p:nvPr/>
        </p:nvSpPr>
        <p:spPr>
          <a:xfrm>
            <a:off x="3246120" y="1481328"/>
            <a:ext cx="2697480" cy="274320"/>
          </a:xfrm>
          <a:prstGeom prst="rect">
            <a:avLst/>
          </a:prstGeom>
          <a:solidFill>
            <a:srgbClr val="E8A222"/>
          </a:solidFill>
          <a:ln/>
        </p:spPr>
      </p:sp>
      <p:sp>
        <p:nvSpPr>
          <p:cNvPr id="16" name="Text 14"/>
          <p:cNvSpPr/>
          <p:nvPr/>
        </p:nvSpPr>
        <p:spPr>
          <a:xfrm>
            <a:off x="3337560" y="1143000"/>
            <a:ext cx="2514600" cy="274320"/>
          </a:xfrm>
          <a:prstGeom prst="rect">
            <a:avLst/>
          </a:prstGeom>
          <a:noFill/>
          <a:ln/>
        </p:spPr>
        <p:txBody>
          <a:bodyPr wrap="square" rtlCol="0" anchor="ctr"/>
          <a:lstStyle/>
          <a:p>
            <a:pPr indent="0" marL="0">
              <a:buNone/>
            </a:pPr>
            <a:r>
              <a:rPr lang="en-US" sz="1300" b="1" dirty="0">
                <a:solidFill>
                  <a:srgbClr val="0D3D1A"/>
                </a:solidFill>
                <a:latin typeface="Cambria" pitchFamily="34" charset="0"/>
                <a:ea typeface="Cambria" pitchFamily="34" charset="-122"/>
                <a:cs typeface="Cambria" pitchFamily="34" charset="-120"/>
              </a:rPr>
              <a:t>DAY 2  ·  June 21</a:t>
            </a:r>
            <a:endParaRPr lang="en-US" sz="1300" dirty="0"/>
          </a:p>
        </p:txBody>
      </p:sp>
      <p:sp>
        <p:nvSpPr>
          <p:cNvPr id="17" name="Text 15"/>
          <p:cNvSpPr/>
          <p:nvPr/>
        </p:nvSpPr>
        <p:spPr>
          <a:xfrm>
            <a:off x="3337560" y="1408176"/>
            <a:ext cx="2514600" cy="274320"/>
          </a:xfrm>
          <a:prstGeom prst="rect">
            <a:avLst/>
          </a:prstGeom>
          <a:noFill/>
          <a:ln/>
        </p:spPr>
        <p:txBody>
          <a:bodyPr wrap="square" rtlCol="0" anchor="ctr"/>
          <a:lstStyle/>
          <a:p>
            <a:pPr indent="0" marL="0">
              <a:buNone/>
            </a:pPr>
            <a:r>
              <a:rPr lang="en-US" sz="1100" dirty="0">
                <a:solidFill>
                  <a:srgbClr val="0D3D1A"/>
                </a:solidFill>
                <a:latin typeface="Calibri" pitchFamily="34" charset="0"/>
                <a:ea typeface="Calibri" pitchFamily="34" charset="-122"/>
                <a:cs typeface="Calibri" pitchFamily="34" charset="-120"/>
              </a:rPr>
              <a:t>Train &amp; Integrate</a:t>
            </a:r>
            <a:endParaRPr lang="en-US" sz="1100" dirty="0"/>
          </a:p>
        </p:txBody>
      </p:sp>
      <p:sp>
        <p:nvSpPr>
          <p:cNvPr id="18" name="Text 16"/>
          <p:cNvSpPr/>
          <p:nvPr/>
        </p:nvSpPr>
        <p:spPr>
          <a:xfrm>
            <a:off x="3383280" y="1847088"/>
            <a:ext cx="2423160" cy="365760"/>
          </a:xfrm>
          <a:prstGeom prst="rect">
            <a:avLst/>
          </a:prstGeom>
          <a:noFill/>
          <a:ln/>
        </p:spPr>
        <p:txBody>
          <a:bodyPr wrap="square" rtlCol="0" anchor="ctr"/>
          <a:lstStyle/>
          <a:p>
            <a:pPr indent="0" marL="0">
              <a:lnSpc>
                <a:spcPct val="120000"/>
              </a:lnSpc>
              <a:buNone/>
            </a:pPr>
            <a:r>
              <a:rPr lang="en-US" sz="1050" b="1" dirty="0">
                <a:solidFill>
                  <a:srgbClr val="E8A222"/>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Fine-tune MobileNetV2 (35 epochs)</a:t>
            </a:r>
            <a:endParaRPr lang="en-US" sz="1050" dirty="0"/>
          </a:p>
        </p:txBody>
      </p:sp>
      <p:sp>
        <p:nvSpPr>
          <p:cNvPr id="19" name="Text 17"/>
          <p:cNvSpPr/>
          <p:nvPr/>
        </p:nvSpPr>
        <p:spPr>
          <a:xfrm>
            <a:off x="3383280" y="2249424"/>
            <a:ext cx="2423160" cy="365760"/>
          </a:xfrm>
          <a:prstGeom prst="rect">
            <a:avLst/>
          </a:prstGeom>
          <a:noFill/>
          <a:ln/>
        </p:spPr>
        <p:txBody>
          <a:bodyPr wrap="square" rtlCol="0" anchor="ctr"/>
          <a:lstStyle/>
          <a:p>
            <a:pPr indent="0" marL="0">
              <a:lnSpc>
                <a:spcPct val="120000"/>
              </a:lnSpc>
              <a:buNone/>
            </a:pPr>
            <a:r>
              <a:rPr lang="en-US" sz="1050" b="1" dirty="0">
                <a:solidFill>
                  <a:srgbClr val="E8A222"/>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Target 85%+ validation accuracy</a:t>
            </a:r>
            <a:endParaRPr lang="en-US" sz="1050" dirty="0"/>
          </a:p>
        </p:txBody>
      </p:sp>
      <p:sp>
        <p:nvSpPr>
          <p:cNvPr id="20" name="Text 18"/>
          <p:cNvSpPr/>
          <p:nvPr/>
        </p:nvSpPr>
        <p:spPr>
          <a:xfrm>
            <a:off x="3383280" y="2651760"/>
            <a:ext cx="2423160" cy="365760"/>
          </a:xfrm>
          <a:prstGeom prst="rect">
            <a:avLst/>
          </a:prstGeom>
          <a:noFill/>
          <a:ln/>
        </p:spPr>
        <p:txBody>
          <a:bodyPr wrap="square" rtlCol="0" anchor="ctr"/>
          <a:lstStyle/>
          <a:p>
            <a:pPr indent="0" marL="0">
              <a:lnSpc>
                <a:spcPct val="120000"/>
              </a:lnSpc>
              <a:buNone/>
            </a:pPr>
            <a:r>
              <a:rPr lang="en-US" sz="1050" b="1" dirty="0">
                <a:solidFill>
                  <a:srgbClr val="E8A222"/>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Export via tensorflowjs_converter</a:t>
            </a:r>
            <a:endParaRPr lang="en-US" sz="1050" dirty="0"/>
          </a:p>
        </p:txBody>
      </p:sp>
      <p:sp>
        <p:nvSpPr>
          <p:cNvPr id="21" name="Text 19"/>
          <p:cNvSpPr/>
          <p:nvPr/>
        </p:nvSpPr>
        <p:spPr>
          <a:xfrm>
            <a:off x="3383280" y="3054096"/>
            <a:ext cx="2423160" cy="365760"/>
          </a:xfrm>
          <a:prstGeom prst="rect">
            <a:avLst/>
          </a:prstGeom>
          <a:noFill/>
          <a:ln/>
        </p:spPr>
        <p:txBody>
          <a:bodyPr wrap="square" rtlCol="0" anchor="ctr"/>
          <a:lstStyle/>
          <a:p>
            <a:pPr indent="0" marL="0">
              <a:lnSpc>
                <a:spcPct val="120000"/>
              </a:lnSpc>
              <a:buNone/>
            </a:pPr>
            <a:r>
              <a:rPr lang="en-US" sz="1050" b="1" dirty="0">
                <a:solidFill>
                  <a:srgbClr val="E8A222"/>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Integrate TF.js WebGL/WASM in PWA</a:t>
            </a:r>
            <a:endParaRPr lang="en-US" sz="1050" dirty="0"/>
          </a:p>
        </p:txBody>
      </p:sp>
      <p:sp>
        <p:nvSpPr>
          <p:cNvPr id="22" name="Text 20"/>
          <p:cNvSpPr/>
          <p:nvPr/>
        </p:nvSpPr>
        <p:spPr>
          <a:xfrm>
            <a:off x="3383280" y="3456432"/>
            <a:ext cx="2423160" cy="365760"/>
          </a:xfrm>
          <a:prstGeom prst="rect">
            <a:avLst/>
          </a:prstGeom>
          <a:noFill/>
          <a:ln/>
        </p:spPr>
        <p:txBody>
          <a:bodyPr wrap="square" rtlCol="0" anchor="ctr"/>
          <a:lstStyle/>
          <a:p>
            <a:pPr indent="0" marL="0">
              <a:lnSpc>
                <a:spcPct val="120000"/>
              </a:lnSpc>
              <a:buNone/>
            </a:pPr>
            <a:r>
              <a:rPr lang="en-US" sz="1050" b="1" dirty="0">
                <a:solidFill>
                  <a:srgbClr val="E8A222"/>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Canvas brightness normalization live</a:t>
            </a:r>
            <a:endParaRPr lang="en-US" sz="1050" dirty="0"/>
          </a:p>
        </p:txBody>
      </p:sp>
      <p:sp>
        <p:nvSpPr>
          <p:cNvPr id="23" name="Shape 21"/>
          <p:cNvSpPr/>
          <p:nvPr/>
        </p:nvSpPr>
        <p:spPr>
          <a:xfrm>
            <a:off x="6126480" y="1097280"/>
            <a:ext cx="2697480" cy="3767328"/>
          </a:xfrm>
          <a:prstGeom prst="roundRect">
            <a:avLst>
              <a:gd name="adj" fmla="val 5085"/>
            </a:avLst>
          </a:prstGeom>
          <a:solidFill>
            <a:srgbClr val="1A6B2E">
              <a:alpha val="85000"/>
            </a:srgbClr>
          </a:solidFill>
          <a:ln/>
        </p:spPr>
      </p:sp>
      <p:sp>
        <p:nvSpPr>
          <p:cNvPr id="24" name="Shape 22"/>
          <p:cNvSpPr/>
          <p:nvPr/>
        </p:nvSpPr>
        <p:spPr>
          <a:xfrm>
            <a:off x="6126480" y="1097280"/>
            <a:ext cx="2697480" cy="658368"/>
          </a:xfrm>
          <a:prstGeom prst="roundRect">
            <a:avLst>
              <a:gd name="adj" fmla="val 20833"/>
            </a:avLst>
          </a:prstGeom>
          <a:solidFill>
            <a:srgbClr val="F39C12"/>
          </a:solidFill>
          <a:ln/>
        </p:spPr>
      </p:sp>
      <p:sp>
        <p:nvSpPr>
          <p:cNvPr id="25" name="Shape 23"/>
          <p:cNvSpPr/>
          <p:nvPr/>
        </p:nvSpPr>
        <p:spPr>
          <a:xfrm>
            <a:off x="6126480" y="1481328"/>
            <a:ext cx="2697480" cy="274320"/>
          </a:xfrm>
          <a:prstGeom prst="rect">
            <a:avLst/>
          </a:prstGeom>
          <a:solidFill>
            <a:srgbClr val="F39C12"/>
          </a:solidFill>
          <a:ln/>
        </p:spPr>
      </p:sp>
      <p:sp>
        <p:nvSpPr>
          <p:cNvPr id="26" name="Text 24"/>
          <p:cNvSpPr/>
          <p:nvPr/>
        </p:nvSpPr>
        <p:spPr>
          <a:xfrm>
            <a:off x="6217920" y="1143000"/>
            <a:ext cx="2514600" cy="274320"/>
          </a:xfrm>
          <a:prstGeom prst="rect">
            <a:avLst/>
          </a:prstGeom>
          <a:noFill/>
          <a:ln/>
        </p:spPr>
        <p:txBody>
          <a:bodyPr wrap="square" rtlCol="0" anchor="ctr"/>
          <a:lstStyle/>
          <a:p>
            <a:pPr indent="0" marL="0">
              <a:buNone/>
            </a:pPr>
            <a:r>
              <a:rPr lang="en-US" sz="1300" b="1" dirty="0">
                <a:solidFill>
                  <a:srgbClr val="0D3D1A"/>
                </a:solidFill>
                <a:latin typeface="Cambria" pitchFamily="34" charset="0"/>
                <a:ea typeface="Cambria" pitchFamily="34" charset="-122"/>
                <a:cs typeface="Cambria" pitchFamily="34" charset="-120"/>
              </a:rPr>
              <a:t>DAY 3  ·  June 22</a:t>
            </a:r>
            <a:endParaRPr lang="en-US" sz="1300" dirty="0"/>
          </a:p>
        </p:txBody>
      </p:sp>
      <p:sp>
        <p:nvSpPr>
          <p:cNvPr id="27" name="Text 25"/>
          <p:cNvSpPr/>
          <p:nvPr/>
        </p:nvSpPr>
        <p:spPr>
          <a:xfrm>
            <a:off x="6217920" y="1408176"/>
            <a:ext cx="2514600" cy="274320"/>
          </a:xfrm>
          <a:prstGeom prst="rect">
            <a:avLst/>
          </a:prstGeom>
          <a:noFill/>
          <a:ln/>
        </p:spPr>
        <p:txBody>
          <a:bodyPr wrap="square" rtlCol="0" anchor="ctr"/>
          <a:lstStyle/>
          <a:p>
            <a:pPr indent="0" marL="0">
              <a:buNone/>
            </a:pPr>
            <a:r>
              <a:rPr lang="en-US" sz="1100" dirty="0">
                <a:solidFill>
                  <a:srgbClr val="0D3D1A"/>
                </a:solidFill>
                <a:latin typeface="Calibri" pitchFamily="34" charset="0"/>
                <a:ea typeface="Calibri" pitchFamily="34" charset="-122"/>
                <a:cs typeface="Calibri" pitchFamily="34" charset="-120"/>
              </a:rPr>
              <a:t>Deliver &amp; Submit</a:t>
            </a:r>
            <a:endParaRPr lang="en-US" sz="1100" dirty="0"/>
          </a:p>
        </p:txBody>
      </p:sp>
      <p:sp>
        <p:nvSpPr>
          <p:cNvPr id="28" name="Text 26"/>
          <p:cNvSpPr/>
          <p:nvPr/>
        </p:nvSpPr>
        <p:spPr>
          <a:xfrm>
            <a:off x="6263640" y="1847088"/>
            <a:ext cx="2423160" cy="365760"/>
          </a:xfrm>
          <a:prstGeom prst="rect">
            <a:avLst/>
          </a:prstGeom>
          <a:noFill/>
          <a:ln/>
        </p:spPr>
        <p:txBody>
          <a:bodyPr wrap="square" rtlCol="0" anchor="ctr"/>
          <a:lstStyle/>
          <a:p>
            <a:pPr indent="0" marL="0">
              <a:lnSpc>
                <a:spcPct val="120000"/>
              </a:lnSpc>
              <a:buNone/>
            </a:pPr>
            <a:r>
              <a:rPr lang="en-US" sz="1050" b="1" dirty="0">
                <a:solidFill>
                  <a:srgbClr val="F39C12"/>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Wire ICAR JSON to Web Speech API</a:t>
            </a:r>
            <a:endParaRPr lang="en-US" sz="1050" dirty="0"/>
          </a:p>
        </p:txBody>
      </p:sp>
      <p:sp>
        <p:nvSpPr>
          <p:cNvPr id="29" name="Text 27"/>
          <p:cNvSpPr/>
          <p:nvPr/>
        </p:nvSpPr>
        <p:spPr>
          <a:xfrm>
            <a:off x="6263640" y="2249424"/>
            <a:ext cx="2423160" cy="365760"/>
          </a:xfrm>
          <a:prstGeom prst="rect">
            <a:avLst/>
          </a:prstGeom>
          <a:noFill/>
          <a:ln/>
        </p:spPr>
        <p:txBody>
          <a:bodyPr wrap="square" rtlCol="0" anchor="ctr"/>
          <a:lstStyle/>
          <a:p>
            <a:pPr indent="0" marL="0">
              <a:lnSpc>
                <a:spcPct val="120000"/>
              </a:lnSpc>
              <a:buNone/>
            </a:pPr>
            <a:r>
              <a:rPr lang="en-US" sz="1050" b="1" dirty="0">
                <a:solidFill>
                  <a:srgbClr val="F39C12"/>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End-to-end test on low-cost Android</a:t>
            </a:r>
            <a:endParaRPr lang="en-US" sz="1050" dirty="0"/>
          </a:p>
        </p:txBody>
      </p:sp>
      <p:sp>
        <p:nvSpPr>
          <p:cNvPr id="30" name="Text 28"/>
          <p:cNvSpPr/>
          <p:nvPr/>
        </p:nvSpPr>
        <p:spPr>
          <a:xfrm>
            <a:off x="6263640" y="2651760"/>
            <a:ext cx="2423160" cy="365760"/>
          </a:xfrm>
          <a:prstGeom prst="rect">
            <a:avLst/>
          </a:prstGeom>
          <a:noFill/>
          <a:ln/>
        </p:spPr>
        <p:txBody>
          <a:bodyPr wrap="square" rtlCol="0" anchor="ctr"/>
          <a:lstStyle/>
          <a:p>
            <a:pPr indent="0" marL="0">
              <a:lnSpc>
                <a:spcPct val="120000"/>
              </a:lnSpc>
              <a:buNone/>
            </a:pPr>
            <a:r>
              <a:rPr lang="en-US" sz="1050" b="1" dirty="0">
                <a:solidFill>
                  <a:srgbClr val="F39C12"/>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Verify &lt;10s inference without network</a:t>
            </a:r>
            <a:endParaRPr lang="en-US" sz="1050" dirty="0"/>
          </a:p>
        </p:txBody>
      </p:sp>
      <p:sp>
        <p:nvSpPr>
          <p:cNvPr id="31" name="Text 29"/>
          <p:cNvSpPr/>
          <p:nvPr/>
        </p:nvSpPr>
        <p:spPr>
          <a:xfrm>
            <a:off x="6263640" y="3054096"/>
            <a:ext cx="2423160" cy="365760"/>
          </a:xfrm>
          <a:prstGeom prst="rect">
            <a:avLst/>
          </a:prstGeom>
          <a:noFill/>
          <a:ln/>
        </p:spPr>
        <p:txBody>
          <a:bodyPr wrap="square" rtlCol="0" anchor="ctr"/>
          <a:lstStyle/>
          <a:p>
            <a:pPr indent="0" marL="0">
              <a:lnSpc>
                <a:spcPct val="120000"/>
              </a:lnSpc>
              <a:buNone/>
            </a:pPr>
            <a:r>
              <a:rPr lang="en-US" sz="1050" b="1" dirty="0">
                <a:solidFill>
                  <a:srgbClr val="F39C12"/>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Deploy to Firebase Hosting</a:t>
            </a:r>
            <a:endParaRPr lang="en-US" sz="1050" dirty="0"/>
          </a:p>
        </p:txBody>
      </p:sp>
      <p:sp>
        <p:nvSpPr>
          <p:cNvPr id="32" name="Text 30"/>
          <p:cNvSpPr/>
          <p:nvPr/>
        </p:nvSpPr>
        <p:spPr>
          <a:xfrm>
            <a:off x="6263640" y="3456432"/>
            <a:ext cx="2423160" cy="365760"/>
          </a:xfrm>
          <a:prstGeom prst="rect">
            <a:avLst/>
          </a:prstGeom>
          <a:noFill/>
          <a:ln/>
        </p:spPr>
        <p:txBody>
          <a:bodyPr wrap="square" rtlCol="0" anchor="ctr"/>
          <a:lstStyle/>
          <a:p>
            <a:pPr indent="0" marL="0">
              <a:lnSpc>
                <a:spcPct val="120000"/>
              </a:lnSpc>
              <a:buNone/>
            </a:pPr>
            <a:r>
              <a:rPr lang="en-US" sz="1050" b="1" dirty="0">
                <a:solidFill>
                  <a:srgbClr val="F39C12"/>
                </a:solidFill>
                <a:latin typeface="Calibri" pitchFamily="34" charset="0"/>
                <a:ea typeface="Calibri" pitchFamily="34" charset="-122"/>
                <a:cs typeface="Calibri" pitchFamily="34" charset="-120"/>
              </a:rPr>
              <a:t>✓ </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Record 5-min demo video · Submit ✅</a:t>
            </a:r>
            <a:endParaRPr lang="en-US" sz="1050" dirty="0"/>
          </a:p>
        </p:txBody>
      </p:sp>
      <p:sp>
        <p:nvSpPr>
          <p:cNvPr id="33" name="Text 31"/>
          <p:cNvSpPr/>
          <p:nvPr/>
        </p:nvSpPr>
        <p:spPr>
          <a:xfrm>
            <a:off x="365760" y="4828032"/>
            <a:ext cx="8412480" cy="292608"/>
          </a:xfrm>
          <a:prstGeom prst="rect">
            <a:avLst/>
          </a:prstGeom>
          <a:noFill/>
          <a:ln/>
        </p:spPr>
        <p:txBody>
          <a:bodyPr wrap="square" rtlCol="0" anchor="ctr"/>
          <a:lstStyle/>
          <a:p>
            <a:pPr algn="ctr" indent="0" marL="0">
              <a:buNone/>
            </a:pPr>
            <a:r>
              <a:rPr lang="en-US" sz="1200" b="1" dirty="0">
                <a:solidFill>
                  <a:srgbClr val="E8A222"/>
                </a:solidFill>
                <a:latin typeface="Calibri" pitchFamily="34" charset="0"/>
                <a:ea typeface="Calibri" pitchFamily="34" charset="-122"/>
                <a:cs typeface="Calibri" pitchFamily="34" charset="-120"/>
              </a:rPr>
              <a:t>⏰  Deadline: June 22, 2026 · 11:59 PM IST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D3D1A"/>
                </a:solidFill>
                <a:latin typeface="Cambria" pitchFamily="34" charset="0"/>
                <a:ea typeface="Cambria" pitchFamily="34" charset="-122"/>
                <a:cs typeface="Cambria" pitchFamily="34" charset="-120"/>
              </a:rPr>
              <a:t>CropGuard AI vs Existing Solutions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005840"/>
          <a:ext cx="8503920" cy="3931920"/>
        </p:xfrm>
        <a:graphic>
          <a:graphicData uri="http://schemas.openxmlformats.org/drawingml/2006/table">
            <a:tbl>
              <a:tblPr/>
              <a:tblGrid>
                <a:gridCol w="2606040"/>
                <a:gridCol w="1417320"/>
                <a:gridCol w="1417320"/>
                <a:gridCol w="1417320"/>
                <a:gridCol w="1645920"/>
              </a:tblGrid>
              <a:tr h="436880">
                <a:tc>
                  <a:txBody>
                    <a:bodyPr/>
                    <a:lstStyle/>
                    <a:p>
                      <a:pPr algn="ctr" indent="0" marL="0">
                        <a:buNone/>
                      </a:pPr>
                      <a:r>
                        <a:rPr lang="en-US" sz="1100" b="1" dirty="0">
                          <a:solidFill>
                            <a:srgbClr val="555555"/>
                          </a:solidFill>
                          <a:latin typeface="Cambria" pitchFamily="34" charset="0"/>
                          <a:ea typeface="Cambria" pitchFamily="34" charset="-122"/>
                          <a:cs typeface="Cambria" pitchFamily="34" charset="-120"/>
                        </a:rPr>
                        <a:t>Feature</a:t>
                      </a:r>
                      <a:endParaRPr lang="en-US" sz="1100" dirty="0">
                        <a:latin typeface="Cambria" charset="0"/>
                        <a:ea typeface="Cambria" charset="0"/>
                        <a:cs typeface="Cambr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100" b="1" dirty="0">
                          <a:solidFill>
                            <a:srgbClr val="FFFFFF"/>
                          </a:solidFill>
                          <a:latin typeface="Cambria" pitchFamily="34" charset="0"/>
                          <a:ea typeface="Cambria" pitchFamily="34" charset="-122"/>
                          <a:cs typeface="Cambria" pitchFamily="34" charset="-120"/>
                        </a:rPr>
                        <a:t>CropGuard AI</a:t>
                      </a:r>
                      <a:endParaRPr lang="en-US" sz="1100" dirty="0">
                        <a:latin typeface="Cambria" charset="0"/>
                        <a:ea typeface="Cambria" charset="0"/>
                        <a:cs typeface="Cambr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6B2E"/>
                    </a:solidFill>
                  </a:tcPr>
                </a:tc>
                <a:tc>
                  <a:txBody>
                    <a:bodyPr/>
                    <a:lstStyle/>
                    <a:p>
                      <a:pPr algn="ctr" indent="0" marL="0">
                        <a:buNone/>
                      </a:pPr>
                      <a:r>
                        <a:rPr lang="en-US" sz="1100" b="1" dirty="0">
                          <a:solidFill>
                            <a:srgbClr val="555555"/>
                          </a:solidFill>
                          <a:latin typeface="Cambria" pitchFamily="34" charset="0"/>
                          <a:ea typeface="Cambria" pitchFamily="34" charset="-122"/>
                          <a:cs typeface="Cambria" pitchFamily="34" charset="-120"/>
                        </a:rPr>
                        <a:t>Plantix</a:t>
                      </a:r>
                      <a:endParaRPr lang="en-US" sz="1100" dirty="0">
                        <a:latin typeface="Cambria" charset="0"/>
                        <a:ea typeface="Cambria" charset="0"/>
                        <a:cs typeface="Cambr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E0E0E0"/>
                    </a:solidFill>
                  </a:tcPr>
                </a:tc>
                <a:tc>
                  <a:txBody>
                    <a:bodyPr/>
                    <a:lstStyle/>
                    <a:p>
                      <a:pPr algn="ctr" indent="0" marL="0">
                        <a:buNone/>
                      </a:pPr>
                      <a:r>
                        <a:rPr lang="en-US" sz="1100" b="1" dirty="0">
                          <a:solidFill>
                            <a:srgbClr val="555555"/>
                          </a:solidFill>
                          <a:latin typeface="Cambria" pitchFamily="34" charset="0"/>
                          <a:ea typeface="Cambria" pitchFamily="34" charset="-122"/>
                          <a:cs typeface="Cambria" pitchFamily="34" charset="-120"/>
                        </a:rPr>
                        <a:t>AgroStar</a:t>
                      </a:r>
                      <a:endParaRPr lang="en-US" sz="1100" dirty="0">
                        <a:latin typeface="Cambria" charset="0"/>
                        <a:ea typeface="Cambria" charset="0"/>
                        <a:cs typeface="Cambr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E0E0E0"/>
                    </a:solidFill>
                  </a:tcPr>
                </a:tc>
                <a:tc>
                  <a:txBody>
                    <a:bodyPr/>
                    <a:lstStyle/>
                    <a:p>
                      <a:pPr algn="ctr" indent="0" marL="0">
                        <a:buNone/>
                      </a:pPr>
                      <a:r>
                        <a:rPr lang="en-US" sz="1100" b="1" dirty="0">
                          <a:solidFill>
                            <a:srgbClr val="555555"/>
                          </a:solidFill>
                          <a:latin typeface="Cambria" pitchFamily="34" charset="0"/>
                          <a:ea typeface="Cambria" pitchFamily="34" charset="-122"/>
                          <a:cs typeface="Cambria" pitchFamily="34" charset="-120"/>
                        </a:rPr>
                        <a:t>Generic Apps</a:t>
                      </a:r>
                      <a:endParaRPr lang="en-US" sz="1100" dirty="0">
                        <a:latin typeface="Cambria" charset="0"/>
                        <a:ea typeface="Cambria" charset="0"/>
                        <a:cs typeface="Cambr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E0E0E0"/>
                    </a:solidFill>
                  </a:tcPr>
                </a:tc>
              </a:tr>
              <a:tr h="436880">
                <a:tc>
                  <a:txBody>
                    <a:bodyPr/>
                    <a:lstStyle/>
                    <a:p>
                      <a:pPr algn="l" indent="0" marL="0">
                        <a:buNone/>
                      </a:pPr>
                      <a:r>
                        <a:rPr lang="en-US" sz="1100" dirty="0">
                          <a:solidFill>
                            <a:srgbClr val="555555"/>
                          </a:solidFill>
                          <a:latin typeface="Calibri" pitchFamily="34" charset="0"/>
                          <a:ea typeface="Calibri" pitchFamily="34" charset="-122"/>
                          <a:cs typeface="Calibri" pitchFamily="34" charset="-120"/>
                        </a:rPr>
                        <a:t>Offline / No internet</a:t>
                      </a:r>
                      <a:endParaRPr lang="en-US" sz="11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36880">
                <a:tc>
                  <a:txBody>
                    <a:bodyPr/>
                    <a:lstStyle/>
                    <a:p>
                      <a:pPr algn="l" indent="0" marL="0">
                        <a:buNone/>
                      </a:pPr>
                      <a:r>
                        <a:rPr lang="en-US" sz="1100" dirty="0">
                          <a:solidFill>
                            <a:srgbClr val="555555"/>
                          </a:solidFill>
                          <a:latin typeface="Calibri" pitchFamily="34" charset="0"/>
                          <a:ea typeface="Calibri" pitchFamily="34" charset="-122"/>
                          <a:cs typeface="Calibri" pitchFamily="34" charset="-120"/>
                        </a:rPr>
                        <a:t>Hindi voice readout</a:t>
                      </a:r>
                      <a:endParaRPr lang="en-US" sz="11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b="1"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r>
              <a:tr h="436880">
                <a:tc>
                  <a:txBody>
                    <a:bodyPr/>
                    <a:lstStyle/>
                    <a:p>
                      <a:pPr algn="l" indent="0" marL="0">
                        <a:buNone/>
                      </a:pPr>
                      <a:r>
                        <a:rPr lang="en-US" sz="1100" dirty="0">
                          <a:solidFill>
                            <a:srgbClr val="555555"/>
                          </a:solidFill>
                          <a:latin typeface="Calibri" pitchFamily="34" charset="0"/>
                          <a:ea typeface="Calibri" pitchFamily="34" charset="-122"/>
                          <a:cs typeface="Calibri" pitchFamily="34" charset="-120"/>
                        </a:rPr>
                        <a:t>Zero text input</a:t>
                      </a:r>
                      <a:endParaRPr lang="en-US" sz="11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36880">
                <a:tc>
                  <a:txBody>
                    <a:bodyPr/>
                    <a:lstStyle/>
                    <a:p>
                      <a:pPr algn="l" indent="0" marL="0">
                        <a:buNone/>
                      </a:pPr>
                      <a:r>
                        <a:rPr lang="en-US" sz="1100" dirty="0">
                          <a:solidFill>
                            <a:srgbClr val="555555"/>
                          </a:solidFill>
                          <a:latin typeface="Calibri" pitchFamily="34" charset="0"/>
                          <a:ea typeface="Calibri" pitchFamily="34" charset="-122"/>
                          <a:cs typeface="Calibri" pitchFamily="34" charset="-120"/>
                        </a:rPr>
                        <a:t>ICAR validated</a:t>
                      </a:r>
                      <a:endParaRPr lang="en-US" sz="11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b="1"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r>
              <a:tr h="436880">
                <a:tc>
                  <a:txBody>
                    <a:bodyPr/>
                    <a:lstStyle/>
                    <a:p>
                      <a:pPr algn="l" indent="0" marL="0">
                        <a:buNone/>
                      </a:pPr>
                      <a:r>
                        <a:rPr lang="en-US" sz="1100" dirty="0">
                          <a:solidFill>
                            <a:srgbClr val="555555"/>
                          </a:solidFill>
                          <a:latin typeface="Calibri" pitchFamily="34" charset="0"/>
                          <a:ea typeface="Calibri" pitchFamily="34" charset="-122"/>
                          <a:cs typeface="Calibri" pitchFamily="34" charset="-120"/>
                        </a:rPr>
                        <a:t>Works on 2 GB device</a:t>
                      </a:r>
                      <a:endParaRPr lang="en-US" sz="11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36880">
                <a:tc>
                  <a:txBody>
                    <a:bodyPr/>
                    <a:lstStyle/>
                    <a:p>
                      <a:pPr algn="l" indent="0" marL="0">
                        <a:buNone/>
                      </a:pPr>
                      <a:r>
                        <a:rPr lang="en-US" sz="1100" dirty="0">
                          <a:solidFill>
                            <a:srgbClr val="555555"/>
                          </a:solidFill>
                          <a:latin typeface="Calibri" pitchFamily="34" charset="0"/>
                          <a:ea typeface="Calibri" pitchFamily="34" charset="-122"/>
                          <a:cs typeface="Calibri" pitchFamily="34" charset="-120"/>
                        </a:rPr>
                        <a:t>No login required</a:t>
                      </a:r>
                      <a:endParaRPr lang="en-US" sz="11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b="1"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r>
              <a:tr h="436880">
                <a:tc>
                  <a:txBody>
                    <a:bodyPr/>
                    <a:lstStyle/>
                    <a:p>
                      <a:pPr algn="l" indent="0" marL="0">
                        <a:buNone/>
                      </a:pPr>
                      <a:r>
                        <a:rPr lang="en-US" sz="1100" dirty="0">
                          <a:solidFill>
                            <a:srgbClr val="555555"/>
                          </a:solidFill>
                          <a:latin typeface="Calibri" pitchFamily="34" charset="0"/>
                          <a:ea typeface="Calibri" pitchFamily="34" charset="-122"/>
                          <a:cs typeface="Calibri" pitchFamily="34" charset="-120"/>
                        </a:rPr>
                        <a:t>Under 10s diagnosis</a:t>
                      </a:r>
                      <a:endParaRPr lang="en-US" sz="11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36880">
                <a:tc>
                  <a:txBody>
                    <a:bodyPr/>
                    <a:lstStyle/>
                    <a:p>
                      <a:pPr algn="l" indent="0" marL="0">
                        <a:buNone/>
                      </a:pPr>
                      <a:r>
                        <a:rPr lang="en-US" sz="1100" dirty="0">
                          <a:solidFill>
                            <a:srgbClr val="555555"/>
                          </a:solidFill>
                          <a:latin typeface="Calibri" pitchFamily="34" charset="0"/>
                          <a:ea typeface="Calibri" pitchFamily="34" charset="-122"/>
                          <a:cs typeface="Calibri" pitchFamily="34" charset="-120"/>
                        </a:rPr>
                        <a:t>Free to use</a:t>
                      </a:r>
                      <a:endParaRPr lang="en-US" sz="11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b="1"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c>
                  <a:txBody>
                    <a:bodyPr/>
                    <a:lstStyle/>
                    <a:p>
                      <a:pPr algn="ctr" indent="0" marL="0">
                        <a:buNone/>
                      </a:pPr>
                      <a:r>
                        <a:rPr lang="en-US" sz="1400" dirty="0">
                          <a:solidFill>
                            <a:srgbClr val="0D3D1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7FAF8"/>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3D1A"/>
        </a:solidFill>
      </p:bgPr>
    </p:bg>
    <p:spTree>
      <p:nvGrpSpPr>
        <p:cNvPr id="1" name=""/>
        <p:cNvGrpSpPr/>
        <p:nvPr/>
      </p:nvGrpSpPr>
      <p:grpSpPr>
        <a:xfrm>
          <a:off x="0" y="0"/>
          <a:ext cx="0" cy="0"/>
          <a:chOff x="0" y="0"/>
          <a:chExt cx="0" cy="0"/>
        </a:xfrm>
      </p:grpSpPr>
      <p:sp>
        <p:nvSpPr>
          <p:cNvPr id="2" name="Shape 0"/>
          <p:cNvSpPr/>
          <p:nvPr/>
        </p:nvSpPr>
        <p:spPr>
          <a:xfrm>
            <a:off x="6400800" y="-457200"/>
            <a:ext cx="4114800" cy="4114800"/>
          </a:xfrm>
          <a:prstGeom prst="ellipse">
            <a:avLst/>
          </a:prstGeom>
          <a:solidFill>
            <a:srgbClr val="1A6B2E">
              <a:alpha val="35000"/>
            </a:srgbClr>
          </a:solidFill>
          <a:ln/>
        </p:spPr>
      </p:sp>
      <p:sp>
        <p:nvSpPr>
          <p:cNvPr id="3" name="Text 1"/>
          <p:cNvSpPr/>
          <p:nvPr/>
        </p:nvSpPr>
        <p:spPr>
          <a:xfrm>
            <a:off x="365760" y="457200"/>
            <a:ext cx="1828800" cy="1097280"/>
          </a:xfrm>
          <a:prstGeom prst="rect">
            <a:avLst/>
          </a:prstGeom>
          <a:noFill/>
          <a:ln/>
        </p:spPr>
        <p:txBody>
          <a:bodyPr wrap="square" rtlCol="0" anchor="ctr"/>
          <a:lstStyle/>
          <a:p>
            <a:pPr indent="0" marL="0">
              <a:buNone/>
            </a:pPr>
            <a:r>
              <a:rPr lang="en-US" sz="5200" dirty="0">
                <a:solidFill>
                  <a:srgbClr val="000000"/>
                </a:solidFill>
              </a:rPr>
              <a:t>🌿</a:t>
            </a:r>
            <a:endParaRPr lang="en-US" sz="5200" dirty="0"/>
          </a:p>
        </p:txBody>
      </p:sp>
      <p:sp>
        <p:nvSpPr>
          <p:cNvPr id="4" name="Text 2"/>
          <p:cNvSpPr/>
          <p:nvPr/>
        </p:nvSpPr>
        <p:spPr>
          <a:xfrm>
            <a:off x="365760" y="1188720"/>
            <a:ext cx="8229600" cy="914400"/>
          </a:xfrm>
          <a:prstGeom prst="rect">
            <a:avLst/>
          </a:prstGeom>
          <a:noFill/>
          <a:ln/>
        </p:spPr>
        <p:txBody>
          <a:bodyPr wrap="square"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CropGuard AI</a:t>
            </a:r>
            <a:endParaRPr lang="en-US" sz="4600" dirty="0"/>
          </a:p>
        </p:txBody>
      </p:sp>
      <p:sp>
        <p:nvSpPr>
          <p:cNvPr id="5" name="Text 3"/>
          <p:cNvSpPr/>
          <p:nvPr/>
        </p:nvSpPr>
        <p:spPr>
          <a:xfrm>
            <a:off x="365760" y="2084832"/>
            <a:ext cx="7315200" cy="502920"/>
          </a:xfrm>
          <a:prstGeom prst="rect">
            <a:avLst/>
          </a:prstGeom>
          <a:noFill/>
          <a:ln/>
        </p:spPr>
        <p:txBody>
          <a:bodyPr wrap="square" rtlCol="0" anchor="ctr"/>
          <a:lstStyle/>
          <a:p>
            <a:pPr indent="0" marL="0">
              <a:buNone/>
            </a:pPr>
            <a:r>
              <a:rPr lang="en-US" sz="1600" i="1" dirty="0">
                <a:solidFill>
                  <a:srgbClr val="74C98A"/>
                </a:solidFill>
                <a:latin typeface="Calibri" pitchFamily="34" charset="0"/>
                <a:ea typeface="Calibri" pitchFamily="34" charset="-122"/>
                <a:cs typeface="Calibri" pitchFamily="34" charset="-120"/>
              </a:rPr>
              <a:t>Giving every Indian farmer a crop doctor in their pocket.</a:t>
            </a:r>
            <a:endParaRPr lang="en-US" sz="1600" dirty="0"/>
          </a:p>
        </p:txBody>
      </p:sp>
      <p:sp>
        <p:nvSpPr>
          <p:cNvPr id="6" name="Shape 4"/>
          <p:cNvSpPr/>
          <p:nvPr/>
        </p:nvSpPr>
        <p:spPr>
          <a:xfrm>
            <a:off x="365760" y="2880360"/>
            <a:ext cx="2697480" cy="713232"/>
          </a:xfrm>
          <a:prstGeom prst="roundRect">
            <a:avLst>
              <a:gd name="adj" fmla="val 15385"/>
            </a:avLst>
          </a:prstGeom>
          <a:solidFill>
            <a:srgbClr val="1A6B2E"/>
          </a:solidFill>
          <a:ln/>
        </p:spPr>
      </p:sp>
      <p:sp>
        <p:nvSpPr>
          <p:cNvPr id="7" name="Text 5"/>
          <p:cNvSpPr/>
          <p:nvPr/>
        </p:nvSpPr>
        <p:spPr>
          <a:xfrm>
            <a:off x="365760" y="2880360"/>
            <a:ext cx="2697480" cy="713232"/>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Offline · Zero internet after install</a:t>
            </a:r>
            <a:endParaRPr lang="en-US" sz="1150" dirty="0"/>
          </a:p>
        </p:txBody>
      </p:sp>
      <p:sp>
        <p:nvSpPr>
          <p:cNvPr id="8" name="Shape 6"/>
          <p:cNvSpPr/>
          <p:nvPr/>
        </p:nvSpPr>
        <p:spPr>
          <a:xfrm>
            <a:off x="3246120" y="2880360"/>
            <a:ext cx="2697480" cy="713232"/>
          </a:xfrm>
          <a:prstGeom prst="roundRect">
            <a:avLst>
              <a:gd name="adj" fmla="val 15385"/>
            </a:avLst>
          </a:prstGeom>
          <a:solidFill>
            <a:srgbClr val="1A6B2E"/>
          </a:solidFill>
          <a:ln/>
        </p:spPr>
      </p:sp>
      <p:sp>
        <p:nvSpPr>
          <p:cNvPr id="9" name="Text 7"/>
          <p:cNvSpPr/>
          <p:nvPr/>
        </p:nvSpPr>
        <p:spPr>
          <a:xfrm>
            <a:off x="3246120" y="2880360"/>
            <a:ext cx="2697480" cy="713232"/>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Hindi voice · Literacy-free</a:t>
            </a:r>
            <a:endParaRPr lang="en-US" sz="1150" dirty="0"/>
          </a:p>
        </p:txBody>
      </p:sp>
      <p:sp>
        <p:nvSpPr>
          <p:cNvPr id="10" name="Shape 8"/>
          <p:cNvSpPr/>
          <p:nvPr/>
        </p:nvSpPr>
        <p:spPr>
          <a:xfrm>
            <a:off x="6126480" y="2880360"/>
            <a:ext cx="2697480" cy="713232"/>
          </a:xfrm>
          <a:prstGeom prst="roundRect">
            <a:avLst>
              <a:gd name="adj" fmla="val 15385"/>
            </a:avLst>
          </a:prstGeom>
          <a:solidFill>
            <a:srgbClr val="1A6B2E"/>
          </a:solidFill>
          <a:ln/>
        </p:spPr>
      </p:sp>
      <p:sp>
        <p:nvSpPr>
          <p:cNvPr id="11" name="Text 9"/>
          <p:cNvSpPr/>
          <p:nvPr/>
        </p:nvSpPr>
        <p:spPr>
          <a:xfrm>
            <a:off x="6126480" y="2880360"/>
            <a:ext cx="2697480" cy="713232"/>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Sub-10s · ICAR-validated</a:t>
            </a:r>
            <a:endParaRPr lang="en-US" sz="1150" dirty="0"/>
          </a:p>
        </p:txBody>
      </p:sp>
      <p:sp>
        <p:nvSpPr>
          <p:cNvPr id="12" name="Text 10"/>
          <p:cNvSpPr/>
          <p:nvPr/>
        </p:nvSpPr>
        <p:spPr>
          <a:xfrm>
            <a:off x="365760" y="3767328"/>
            <a:ext cx="8412480" cy="329184"/>
          </a:xfrm>
          <a:prstGeom prst="rect">
            <a:avLst/>
          </a:prstGeom>
          <a:noFill/>
          <a:ln/>
        </p:spPr>
        <p:txBody>
          <a:bodyPr wrap="square" rtlCol="0" anchor="ctr"/>
          <a:lstStyle/>
          <a:p>
            <a:pPr algn="ctr" indent="0" marL="0">
              <a:buNone/>
            </a:pPr>
            <a:r>
              <a:rPr lang="en-US" sz="1100" dirty="0">
                <a:solidFill>
                  <a:srgbClr val="AAD0B5"/>
                </a:solidFill>
                <a:latin typeface="Calibri" pitchFamily="34" charset="0"/>
                <a:ea typeface="Calibri" pitchFamily="34" charset="-122"/>
                <a:cs typeface="Calibri" pitchFamily="34" charset="-120"/>
              </a:rPr>
              <a:t>Bharat Academix CodeQuest 2026 · Round 2 · AI &amp; Agriculture</a:t>
            </a:r>
            <a:endParaRPr lang="en-US" sz="1100" dirty="0"/>
          </a:p>
        </p:txBody>
      </p:sp>
      <p:sp>
        <p:nvSpPr>
          <p:cNvPr id="13" name="Text 11"/>
          <p:cNvSpPr/>
          <p:nvPr/>
        </p:nvSpPr>
        <p:spPr>
          <a:xfrm>
            <a:off x="365760" y="4169664"/>
            <a:ext cx="8412480" cy="329184"/>
          </a:xfrm>
          <a:prstGeom prst="rect">
            <a:avLst/>
          </a:prstGeom>
          <a:noFill/>
          <a:ln/>
        </p:spPr>
        <p:txBody>
          <a:bodyPr wrap="square" rtlCol="0" anchor="ctr"/>
          <a:lstStyle/>
          <a:p>
            <a:pPr algn="ctr" indent="0" marL="0">
              <a:buNone/>
            </a:pPr>
            <a:r>
              <a:rPr lang="en-US" sz="1100" b="1" dirty="0">
                <a:solidFill>
                  <a:srgbClr val="E8A222"/>
                </a:solidFill>
                <a:latin typeface="Calibri" pitchFamily="34" charset="0"/>
                <a:ea typeface="Calibri" pitchFamily="34" charset="-122"/>
                <a:cs typeface="Calibri" pitchFamily="34" charset="-120"/>
              </a:rPr>
              <a:t>github.com/cropguard-ai/cropguard-codequest2026  ·  cropguard-ai.web.app</a:t>
            </a:r>
            <a:endParaRPr lang="en-US" sz="1100" dirty="0"/>
          </a:p>
        </p:txBody>
      </p:sp>
      <p:sp>
        <p:nvSpPr>
          <p:cNvPr id="14" name="Text 12"/>
          <p:cNvSpPr/>
          <p:nvPr/>
        </p:nvSpPr>
        <p:spPr>
          <a:xfrm>
            <a:off x="365760" y="4617720"/>
            <a:ext cx="8412480"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Thank you — जय किसान!</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CropGuard AI — Bharat Academix CodeQuest 2026</dc:title>
  <dc:subject>PptxGenJS Presentation</dc:subject>
  <dc:creator>CropGuard AI Team</dc:creator>
  <cp:lastModifiedBy>CropGuard AI Team</cp:lastModifiedBy>
  <cp:revision>1</cp:revision>
  <dcterms:created xsi:type="dcterms:W3CDTF">2026-06-19T07:27:19Z</dcterms:created>
  <dcterms:modified xsi:type="dcterms:W3CDTF">2026-06-19T07:27:19Z</dcterms:modified>
</cp:coreProperties>
</file>